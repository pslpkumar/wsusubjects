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8"/>
  </p:notesMasterIdLst>
  <p:sldIdLst>
    <p:sldId id="256" r:id="rId2"/>
    <p:sldId id="257" r:id="rId3"/>
    <p:sldId id="258" r:id="rId4"/>
    <p:sldId id="261" r:id="rId5"/>
    <p:sldId id="263" r:id="rId6"/>
    <p:sldId id="260" r:id="rId7"/>
    <p:sldId id="264" r:id="rId8"/>
    <p:sldId id="269" r:id="rId9"/>
    <p:sldId id="294" r:id="rId10"/>
    <p:sldId id="273" r:id="rId11"/>
    <p:sldId id="292" r:id="rId12"/>
    <p:sldId id="293" r:id="rId13"/>
    <p:sldId id="267" r:id="rId14"/>
    <p:sldId id="277" r:id="rId15"/>
    <p:sldId id="276" r:id="rId16"/>
    <p:sldId id="278" r:id="rId17"/>
    <p:sldId id="295" r:id="rId18"/>
    <p:sldId id="279" r:id="rId19"/>
    <p:sldId id="281" r:id="rId20"/>
    <p:sldId id="282" r:id="rId21"/>
    <p:sldId id="286" r:id="rId22"/>
    <p:sldId id="288" r:id="rId23"/>
    <p:sldId id="287" r:id="rId24"/>
    <p:sldId id="290" r:id="rId25"/>
    <p:sldId id="283" r:id="rId26"/>
    <p:sldId id="284" r:id="rId27"/>
  </p:sldIdLst>
  <p:sldSz cx="9107488" cy="66595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7" userDrawn="1">
          <p15:clr>
            <a:srgbClr val="A4A3A4"/>
          </p15:clr>
        </p15:guide>
        <p15:guide id="2" pos="28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76" autoAdjust="0"/>
    <p:restoredTop sz="93792" autoAdjust="0"/>
  </p:normalViewPr>
  <p:slideViewPr>
    <p:cSldViewPr snapToGrid="0">
      <p:cViewPr varScale="1">
        <p:scale>
          <a:sx n="86" d="100"/>
          <a:sy n="86" d="100"/>
        </p:scale>
        <p:origin x="1574" y="58"/>
      </p:cViewPr>
      <p:guideLst>
        <p:guide orient="horz" pos="2097"/>
        <p:guide pos="2868"/>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F9C269-2F7A-4D8A-9591-86A9B14A7F28}" type="datetimeFigureOut">
              <a:rPr lang="en-US" smtClean="0"/>
              <a:t>07-Feb-22</a:t>
            </a:fld>
            <a:endParaRPr lang="en-US"/>
          </a:p>
        </p:txBody>
      </p:sp>
      <p:sp>
        <p:nvSpPr>
          <p:cNvPr id="4" name="Slide Image Placeholder 3"/>
          <p:cNvSpPr>
            <a:spLocks noGrp="1" noRot="1" noChangeAspect="1"/>
          </p:cNvSpPr>
          <p:nvPr>
            <p:ph type="sldImg" idx="2"/>
          </p:nvPr>
        </p:nvSpPr>
        <p:spPr>
          <a:xfrm>
            <a:off x="1319213" y="1143000"/>
            <a:ext cx="4219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62DA08-EDC5-435E-AF74-27AA760A1825}" type="slidenum">
              <a:rPr lang="en-US" smtClean="0"/>
              <a:t>‹#›</a:t>
            </a:fld>
            <a:endParaRPr lang="en-US"/>
          </a:p>
        </p:txBody>
      </p:sp>
    </p:spTree>
    <p:extLst>
      <p:ext uri="{BB962C8B-B14F-4D97-AF65-F5344CB8AC3E}">
        <p14:creationId xmlns:p14="http://schemas.microsoft.com/office/powerpoint/2010/main" val="3097825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A381FB7-588E-4B18-A31C-242AB10AC6C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6320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34661" y="2441841"/>
            <a:ext cx="6574095" cy="2197307"/>
          </a:xfrm>
        </p:spPr>
        <p:txBody>
          <a:bodyPr anchor="b">
            <a:normAutofit/>
          </a:bodyPr>
          <a:lstStyle>
            <a:lvl1pPr>
              <a:defRPr sz="5244"/>
            </a:lvl1pPr>
          </a:lstStyle>
          <a:p>
            <a:r>
              <a:rPr lang="en-US"/>
              <a:t>Click to edit Master title style</a:t>
            </a:r>
            <a:endParaRPr lang="en-US" dirty="0"/>
          </a:p>
        </p:txBody>
      </p:sp>
      <p:sp>
        <p:nvSpPr>
          <p:cNvPr id="3" name="Subtitle 2"/>
          <p:cNvSpPr>
            <a:spLocks noGrp="1"/>
          </p:cNvSpPr>
          <p:nvPr>
            <p:ph type="subTitle" idx="1"/>
          </p:nvPr>
        </p:nvSpPr>
        <p:spPr>
          <a:xfrm>
            <a:off x="1934661" y="4639146"/>
            <a:ext cx="6574095" cy="1093694"/>
          </a:xfrm>
        </p:spPr>
        <p:txBody>
          <a:bodyPr anchor="t"/>
          <a:lstStyle>
            <a:lvl1pPr marL="0" indent="0" algn="l">
              <a:buNone/>
              <a:defRPr>
                <a:solidFill>
                  <a:schemeClr val="tx1">
                    <a:lumMod val="65000"/>
                    <a:lumOff val="35000"/>
                  </a:schemeClr>
                </a:solidFill>
              </a:defRPr>
            </a:lvl1pPr>
            <a:lvl2pPr marL="443987" indent="0" algn="ctr">
              <a:buNone/>
              <a:defRPr>
                <a:solidFill>
                  <a:schemeClr val="tx1">
                    <a:tint val="75000"/>
                  </a:schemeClr>
                </a:solidFill>
              </a:defRPr>
            </a:lvl2pPr>
            <a:lvl3pPr marL="887974" indent="0" algn="ctr">
              <a:buNone/>
              <a:defRPr>
                <a:solidFill>
                  <a:schemeClr val="tx1">
                    <a:tint val="75000"/>
                  </a:schemeClr>
                </a:solidFill>
              </a:defRPr>
            </a:lvl3pPr>
            <a:lvl4pPr marL="1331961" indent="0" algn="ctr">
              <a:buNone/>
              <a:defRPr>
                <a:solidFill>
                  <a:schemeClr val="tx1">
                    <a:tint val="75000"/>
                  </a:schemeClr>
                </a:solidFill>
              </a:defRPr>
            </a:lvl4pPr>
            <a:lvl5pPr marL="1775948" indent="0" algn="ctr">
              <a:buNone/>
              <a:defRPr>
                <a:solidFill>
                  <a:schemeClr val="tx1">
                    <a:tint val="75000"/>
                  </a:schemeClr>
                </a:solidFill>
              </a:defRPr>
            </a:lvl5pPr>
            <a:lvl6pPr marL="2219935" indent="0" algn="ctr">
              <a:buNone/>
              <a:defRPr>
                <a:solidFill>
                  <a:schemeClr val="tx1">
                    <a:tint val="75000"/>
                  </a:schemeClr>
                </a:solidFill>
              </a:defRPr>
            </a:lvl6pPr>
            <a:lvl7pPr marL="2663922" indent="0" algn="ctr">
              <a:buNone/>
              <a:defRPr>
                <a:solidFill>
                  <a:schemeClr val="tx1">
                    <a:tint val="75000"/>
                  </a:schemeClr>
                </a:solidFill>
              </a:defRPr>
            </a:lvl7pPr>
            <a:lvl8pPr marL="3107908" indent="0" algn="ctr">
              <a:buNone/>
              <a:defRPr>
                <a:solidFill>
                  <a:schemeClr val="tx1">
                    <a:tint val="75000"/>
                  </a:schemeClr>
                </a:solidFill>
              </a:defRPr>
            </a:lvl8pPr>
            <a:lvl9pPr marL="3551895"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9CE879-B1DC-4BFA-94F3-3A446B63D92F}" type="datetimeFigureOut">
              <a:rPr lang="en-IN" smtClean="0"/>
              <a:t>07-02-2022</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8"/>
          <p:cNvSpPr/>
          <p:nvPr/>
        </p:nvSpPr>
        <p:spPr bwMode="auto">
          <a:xfrm>
            <a:off x="-31592" y="4196125"/>
            <a:ext cx="1389901" cy="759160"/>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1644" y="4398479"/>
            <a:ext cx="582642" cy="354560"/>
          </a:xfrm>
        </p:spPr>
        <p:txBody>
          <a:bodyPr/>
          <a:lstStyle/>
          <a:p>
            <a:fld id="{98822BB8-216F-48C2-82EC-7F879AC32139}" type="slidenum">
              <a:rPr lang="en-IN" smtClean="0"/>
              <a:t>‹#›</a:t>
            </a:fld>
            <a:endParaRPr lang="en-IN"/>
          </a:p>
        </p:txBody>
      </p:sp>
    </p:spTree>
    <p:extLst>
      <p:ext uri="{BB962C8B-B14F-4D97-AF65-F5344CB8AC3E}">
        <p14:creationId xmlns:p14="http://schemas.microsoft.com/office/powerpoint/2010/main" val="2304967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37434" y="606051"/>
            <a:ext cx="6562888" cy="1243827"/>
          </a:xfrm>
        </p:spPr>
        <p:txBody>
          <a:bodyPr/>
          <a:lstStyle/>
          <a:p>
            <a:r>
              <a:rPr lang="en-US"/>
              <a:t>Click to edit Master title style</a:t>
            </a:r>
            <a:endParaRPr lang="en-US" dirty="0"/>
          </a:p>
        </p:txBody>
      </p:sp>
      <p:sp>
        <p:nvSpPr>
          <p:cNvPr id="3" name="Content Placeholder 2"/>
          <p:cNvSpPr>
            <a:spLocks noGrp="1"/>
          </p:cNvSpPr>
          <p:nvPr>
            <p:ph idx="1"/>
          </p:nvPr>
        </p:nvSpPr>
        <p:spPr>
          <a:xfrm>
            <a:off x="1934660" y="2071864"/>
            <a:ext cx="6565663" cy="3668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9CE879-B1DC-4BFA-94F3-3A446B63D92F}" type="datetimeFigureOut">
              <a:rPr lang="en-IN" smtClean="0"/>
              <a:t>07-02-2022</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690616"/>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8822BB8-216F-48C2-82EC-7F879AC32139}" type="slidenum">
              <a:rPr lang="en-IN" smtClean="0"/>
              <a:t>‹#›</a:t>
            </a:fld>
            <a:endParaRPr lang="en-IN"/>
          </a:p>
        </p:txBody>
      </p:sp>
    </p:spTree>
    <p:extLst>
      <p:ext uri="{BB962C8B-B14F-4D97-AF65-F5344CB8AC3E}">
        <p14:creationId xmlns:p14="http://schemas.microsoft.com/office/powerpoint/2010/main" val="2341575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34660" y="2014534"/>
            <a:ext cx="6565663" cy="1426300"/>
          </a:xfrm>
        </p:spPr>
        <p:txBody>
          <a:bodyPr anchor="b"/>
          <a:lstStyle>
            <a:lvl1pPr algn="l">
              <a:defRPr sz="3884" b="0" cap="none"/>
            </a:lvl1pPr>
          </a:lstStyle>
          <a:p>
            <a:r>
              <a:rPr lang="en-US"/>
              <a:t>Click to edit Master title style</a:t>
            </a:r>
            <a:endParaRPr lang="en-US" dirty="0"/>
          </a:p>
        </p:txBody>
      </p:sp>
      <p:sp>
        <p:nvSpPr>
          <p:cNvPr id="3" name="Text Placeholder 2"/>
          <p:cNvSpPr>
            <a:spLocks noGrp="1"/>
          </p:cNvSpPr>
          <p:nvPr>
            <p:ph type="body" idx="1"/>
          </p:nvPr>
        </p:nvSpPr>
        <p:spPr>
          <a:xfrm>
            <a:off x="1934660" y="3477772"/>
            <a:ext cx="6565663" cy="835504"/>
          </a:xfrm>
        </p:spPr>
        <p:txBody>
          <a:bodyPr anchor="t"/>
          <a:lstStyle>
            <a:lvl1pPr marL="0" indent="0" algn="l">
              <a:buNone/>
              <a:defRPr sz="1942">
                <a:solidFill>
                  <a:schemeClr val="tx1">
                    <a:lumMod val="65000"/>
                    <a:lumOff val="35000"/>
                  </a:schemeClr>
                </a:solidFill>
              </a:defRPr>
            </a:lvl1pPr>
            <a:lvl2pPr marL="443987" indent="0">
              <a:buNone/>
              <a:defRPr sz="1748">
                <a:solidFill>
                  <a:schemeClr val="tx1">
                    <a:tint val="75000"/>
                  </a:schemeClr>
                </a:solidFill>
              </a:defRPr>
            </a:lvl2pPr>
            <a:lvl3pPr marL="887974" indent="0">
              <a:buNone/>
              <a:defRPr sz="1554">
                <a:solidFill>
                  <a:schemeClr val="tx1">
                    <a:tint val="75000"/>
                  </a:schemeClr>
                </a:solidFill>
              </a:defRPr>
            </a:lvl3pPr>
            <a:lvl4pPr marL="1331961" indent="0">
              <a:buNone/>
              <a:defRPr sz="1360">
                <a:solidFill>
                  <a:schemeClr val="tx1">
                    <a:tint val="75000"/>
                  </a:schemeClr>
                </a:solidFill>
              </a:defRPr>
            </a:lvl4pPr>
            <a:lvl5pPr marL="1775948" indent="0">
              <a:buNone/>
              <a:defRPr sz="1360">
                <a:solidFill>
                  <a:schemeClr val="tx1">
                    <a:tint val="75000"/>
                  </a:schemeClr>
                </a:solidFill>
              </a:defRPr>
            </a:lvl5pPr>
            <a:lvl6pPr marL="2219935" indent="0">
              <a:buNone/>
              <a:defRPr sz="1360">
                <a:solidFill>
                  <a:schemeClr val="tx1">
                    <a:tint val="75000"/>
                  </a:schemeClr>
                </a:solidFill>
              </a:defRPr>
            </a:lvl6pPr>
            <a:lvl7pPr marL="2663922" indent="0">
              <a:buNone/>
              <a:defRPr sz="1360">
                <a:solidFill>
                  <a:schemeClr val="tx1">
                    <a:tint val="75000"/>
                  </a:schemeClr>
                </a:solidFill>
              </a:defRPr>
            </a:lvl7pPr>
            <a:lvl8pPr marL="3107908" indent="0">
              <a:buNone/>
              <a:defRPr sz="1360">
                <a:solidFill>
                  <a:schemeClr val="tx1">
                    <a:tint val="75000"/>
                  </a:schemeClr>
                </a:solidFill>
              </a:defRPr>
            </a:lvl8pPr>
            <a:lvl9pPr marL="3551895" indent="0">
              <a:buNone/>
              <a:defRPr sz="13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9CE879-B1DC-4BFA-94F3-3A446B63D92F}" type="datetimeFigureOut">
              <a:rPr lang="en-IN" smtClean="0"/>
              <a:t>07-02-2022</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58" y="3074904"/>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09187" y="3150271"/>
            <a:ext cx="582642" cy="354560"/>
          </a:xfrm>
        </p:spPr>
        <p:txBody>
          <a:bodyPr/>
          <a:lstStyle/>
          <a:p>
            <a:fld id="{98822BB8-216F-48C2-82EC-7F879AC32139}" type="slidenum">
              <a:rPr lang="en-IN" smtClean="0"/>
              <a:t>‹#›</a:t>
            </a:fld>
            <a:endParaRPr lang="en-IN"/>
          </a:p>
        </p:txBody>
      </p:sp>
    </p:spTree>
    <p:extLst>
      <p:ext uri="{BB962C8B-B14F-4D97-AF65-F5344CB8AC3E}">
        <p14:creationId xmlns:p14="http://schemas.microsoft.com/office/powerpoint/2010/main" val="4061582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34661" y="2074881"/>
            <a:ext cx="3184763" cy="365838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15996" y="2074881"/>
            <a:ext cx="3184327" cy="365838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9CE879-B1DC-4BFA-94F3-3A446B63D92F}" type="datetimeFigureOut">
              <a:rPr lang="en-IN" smtClean="0"/>
              <a:t>07-02-2022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58" y="690616"/>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09187" y="764989"/>
            <a:ext cx="582642" cy="354560"/>
          </a:xfrm>
        </p:spPr>
        <p:txBody>
          <a:bodyPr/>
          <a:lstStyle/>
          <a:p>
            <a:fld id="{98822BB8-216F-48C2-82EC-7F879AC32139}" type="slidenum">
              <a:rPr lang="en-IN" smtClean="0"/>
              <a:t>‹#›</a:t>
            </a:fld>
            <a:endParaRPr lang="en-IN"/>
          </a:p>
        </p:txBody>
      </p:sp>
    </p:spTree>
    <p:extLst>
      <p:ext uri="{BB962C8B-B14F-4D97-AF65-F5344CB8AC3E}">
        <p14:creationId xmlns:p14="http://schemas.microsoft.com/office/powerpoint/2010/main" val="4097161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56306" y="2162198"/>
            <a:ext cx="2863118" cy="559588"/>
          </a:xfrm>
        </p:spPr>
        <p:txBody>
          <a:bodyPr anchor="b">
            <a:noAutofit/>
          </a:bodyPr>
          <a:lstStyle>
            <a:lvl1pPr marL="0" indent="0">
              <a:buNone/>
              <a:defRPr sz="2331" b="0"/>
            </a:lvl1pPr>
            <a:lvl2pPr marL="443987" indent="0">
              <a:buNone/>
              <a:defRPr sz="1942" b="1"/>
            </a:lvl2pPr>
            <a:lvl3pPr marL="887974" indent="0">
              <a:buNone/>
              <a:defRPr sz="1748" b="1"/>
            </a:lvl3pPr>
            <a:lvl4pPr marL="1331961" indent="0">
              <a:buNone/>
              <a:defRPr sz="1554" b="1"/>
            </a:lvl4pPr>
            <a:lvl5pPr marL="1775948" indent="0">
              <a:buNone/>
              <a:defRPr sz="1554" b="1"/>
            </a:lvl5pPr>
            <a:lvl6pPr marL="2219935" indent="0">
              <a:buNone/>
              <a:defRPr sz="1554" b="1"/>
            </a:lvl6pPr>
            <a:lvl7pPr marL="2663922" indent="0">
              <a:buNone/>
              <a:defRPr sz="1554" b="1"/>
            </a:lvl7pPr>
            <a:lvl8pPr marL="3107908" indent="0">
              <a:buNone/>
              <a:defRPr sz="1554" b="1"/>
            </a:lvl8pPr>
            <a:lvl9pPr marL="3551895" indent="0">
              <a:buNone/>
              <a:defRPr sz="1554" b="1"/>
            </a:lvl9pPr>
          </a:lstStyle>
          <a:p>
            <a:pPr lvl="0"/>
            <a:r>
              <a:rPr lang="en-US"/>
              <a:t>Click to edit Master text styles</a:t>
            </a:r>
          </a:p>
        </p:txBody>
      </p:sp>
      <p:sp>
        <p:nvSpPr>
          <p:cNvPr id="4" name="Content Placeholder 3"/>
          <p:cNvSpPr>
            <a:spLocks noGrp="1"/>
          </p:cNvSpPr>
          <p:nvPr>
            <p:ph sz="half" idx="2"/>
          </p:nvPr>
        </p:nvSpPr>
        <p:spPr>
          <a:xfrm>
            <a:off x="1934659" y="2721787"/>
            <a:ext cx="3184764" cy="30158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33570" y="2159064"/>
            <a:ext cx="2861766" cy="559588"/>
          </a:xfrm>
        </p:spPr>
        <p:txBody>
          <a:bodyPr anchor="b">
            <a:noAutofit/>
          </a:bodyPr>
          <a:lstStyle>
            <a:lvl1pPr marL="0" indent="0">
              <a:buNone/>
              <a:defRPr sz="2331" b="0"/>
            </a:lvl1pPr>
            <a:lvl2pPr marL="443987" indent="0">
              <a:buNone/>
              <a:defRPr sz="1942" b="1"/>
            </a:lvl2pPr>
            <a:lvl3pPr marL="887974" indent="0">
              <a:buNone/>
              <a:defRPr sz="1748" b="1"/>
            </a:lvl3pPr>
            <a:lvl4pPr marL="1331961" indent="0">
              <a:buNone/>
              <a:defRPr sz="1554" b="1"/>
            </a:lvl4pPr>
            <a:lvl5pPr marL="1775948" indent="0">
              <a:buNone/>
              <a:defRPr sz="1554" b="1"/>
            </a:lvl5pPr>
            <a:lvl6pPr marL="2219935" indent="0">
              <a:buNone/>
              <a:defRPr sz="1554" b="1"/>
            </a:lvl6pPr>
            <a:lvl7pPr marL="2663922" indent="0">
              <a:buNone/>
              <a:defRPr sz="1554" b="1"/>
            </a:lvl7pPr>
            <a:lvl8pPr marL="3107908" indent="0">
              <a:buNone/>
              <a:defRPr sz="1554" b="1"/>
            </a:lvl8pPr>
            <a:lvl9pPr marL="3551895" indent="0">
              <a:buNone/>
              <a:defRPr sz="1554" b="1"/>
            </a:lvl9pPr>
          </a:lstStyle>
          <a:p>
            <a:pPr lvl="0"/>
            <a:r>
              <a:rPr lang="en-US"/>
              <a:t>Click to edit Master text styles</a:t>
            </a:r>
          </a:p>
        </p:txBody>
      </p:sp>
      <p:sp>
        <p:nvSpPr>
          <p:cNvPr id="6" name="Content Placeholder 5"/>
          <p:cNvSpPr>
            <a:spLocks noGrp="1"/>
          </p:cNvSpPr>
          <p:nvPr>
            <p:ph sz="quarter" idx="4"/>
          </p:nvPr>
        </p:nvSpPr>
        <p:spPr>
          <a:xfrm>
            <a:off x="5312417" y="2718652"/>
            <a:ext cx="3182920" cy="30158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9CE879-B1DC-4BFA-94F3-3A446B63D92F}" type="datetimeFigureOut">
              <a:rPr lang="en-IN" smtClean="0"/>
              <a:t>07-02-2022</a:t>
            </a:fld>
            <a:endParaRPr lang="en-IN"/>
          </a:p>
        </p:txBody>
      </p:sp>
      <p:sp>
        <p:nvSpPr>
          <p:cNvPr id="8" name="Footer Placeholder 7"/>
          <p:cNvSpPr>
            <a:spLocks noGrp="1"/>
          </p:cNvSpPr>
          <p:nvPr>
            <p:ph type="ftr" sz="quarter" idx="11"/>
          </p:nvPr>
        </p:nvSpPr>
        <p:spPr/>
        <p:txBody>
          <a:bodyPr/>
          <a:lstStyle/>
          <a:p>
            <a:endParaRPr lang="en-IN"/>
          </a:p>
        </p:txBody>
      </p:sp>
      <p:sp>
        <p:nvSpPr>
          <p:cNvPr id="11" name="Freeform 11"/>
          <p:cNvSpPr/>
          <p:nvPr/>
        </p:nvSpPr>
        <p:spPr bwMode="auto">
          <a:xfrm flipV="1">
            <a:off x="58" y="690616"/>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09187" y="764989"/>
            <a:ext cx="582642" cy="354560"/>
          </a:xfrm>
        </p:spPr>
        <p:txBody>
          <a:bodyPr/>
          <a:lstStyle/>
          <a:p>
            <a:fld id="{98822BB8-216F-48C2-82EC-7F879AC32139}" type="slidenum">
              <a:rPr lang="en-IN" smtClean="0"/>
              <a:t>‹#›</a:t>
            </a:fld>
            <a:endParaRPr lang="en-IN"/>
          </a:p>
        </p:txBody>
      </p:sp>
    </p:spTree>
    <p:extLst>
      <p:ext uri="{BB962C8B-B14F-4D97-AF65-F5344CB8AC3E}">
        <p14:creationId xmlns:p14="http://schemas.microsoft.com/office/powerpoint/2010/main" val="2586454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37433" y="606051"/>
            <a:ext cx="6562889" cy="124382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9CE879-B1DC-4BFA-94F3-3A446B63D92F}" type="datetimeFigureOut">
              <a:rPr lang="en-IN" smtClean="0"/>
              <a:t>07-02-2022</a:t>
            </a:fld>
            <a:endParaRPr lang="en-IN"/>
          </a:p>
        </p:txBody>
      </p:sp>
      <p:sp>
        <p:nvSpPr>
          <p:cNvPr id="4" name="Footer Placeholder 3"/>
          <p:cNvSpPr>
            <a:spLocks noGrp="1"/>
          </p:cNvSpPr>
          <p:nvPr>
            <p:ph type="ftr" sz="quarter" idx="11"/>
          </p:nvPr>
        </p:nvSpPr>
        <p:spPr/>
        <p:txBody>
          <a:bodyPr/>
          <a:lstStyle/>
          <a:p>
            <a:endParaRPr lang="en-IN"/>
          </a:p>
        </p:txBody>
      </p:sp>
      <p:sp>
        <p:nvSpPr>
          <p:cNvPr id="8" name="Freeform 11"/>
          <p:cNvSpPr/>
          <p:nvPr/>
        </p:nvSpPr>
        <p:spPr bwMode="auto">
          <a:xfrm flipV="1">
            <a:off x="58" y="690616"/>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8822BB8-216F-48C2-82EC-7F879AC32139}" type="slidenum">
              <a:rPr lang="en-IN" smtClean="0"/>
              <a:t>‹#›</a:t>
            </a:fld>
            <a:endParaRPr lang="en-IN"/>
          </a:p>
        </p:txBody>
      </p:sp>
    </p:spTree>
    <p:extLst>
      <p:ext uri="{BB962C8B-B14F-4D97-AF65-F5344CB8AC3E}">
        <p14:creationId xmlns:p14="http://schemas.microsoft.com/office/powerpoint/2010/main" val="3613034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9CE879-B1DC-4BFA-94F3-3A446B63D92F}" type="datetimeFigureOut">
              <a:rPr lang="en-IN" smtClean="0"/>
              <a:t>07-02-2022</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58" y="690616"/>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8822BB8-216F-48C2-82EC-7F879AC32139}" type="slidenum">
              <a:rPr lang="en-IN" smtClean="0"/>
              <a:t>‹#›</a:t>
            </a:fld>
            <a:endParaRPr lang="en-IN"/>
          </a:p>
        </p:txBody>
      </p:sp>
    </p:spTree>
    <p:extLst>
      <p:ext uri="{BB962C8B-B14F-4D97-AF65-F5344CB8AC3E}">
        <p14:creationId xmlns:p14="http://schemas.microsoft.com/office/powerpoint/2010/main" val="910055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34659" y="433181"/>
            <a:ext cx="2619084" cy="948062"/>
          </a:xfrm>
        </p:spPr>
        <p:txBody>
          <a:bodyPr anchor="b"/>
          <a:lstStyle>
            <a:lvl1pPr algn="l">
              <a:defRPr sz="1942" b="0"/>
            </a:lvl1pPr>
          </a:lstStyle>
          <a:p>
            <a:r>
              <a:rPr lang="en-US"/>
              <a:t>Click to edit Master title style</a:t>
            </a:r>
            <a:endParaRPr lang="en-US" dirty="0"/>
          </a:p>
        </p:txBody>
      </p:sp>
      <p:sp>
        <p:nvSpPr>
          <p:cNvPr id="3" name="Content Placeholder 2"/>
          <p:cNvSpPr>
            <a:spLocks noGrp="1"/>
          </p:cNvSpPr>
          <p:nvPr>
            <p:ph idx="1"/>
          </p:nvPr>
        </p:nvSpPr>
        <p:spPr>
          <a:xfrm>
            <a:off x="4724553" y="433182"/>
            <a:ext cx="3775769" cy="525828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34659" y="1552357"/>
            <a:ext cx="2619084" cy="4139102"/>
          </a:xfrm>
        </p:spPr>
        <p:txBody>
          <a:bodyPr/>
          <a:lstStyle>
            <a:lvl1pPr marL="0" indent="0">
              <a:buNone/>
              <a:defRPr sz="1360"/>
            </a:lvl1pPr>
            <a:lvl2pPr marL="443987" indent="0">
              <a:buNone/>
              <a:defRPr sz="1165"/>
            </a:lvl2pPr>
            <a:lvl3pPr marL="887974" indent="0">
              <a:buNone/>
              <a:defRPr sz="971"/>
            </a:lvl3pPr>
            <a:lvl4pPr marL="1331961" indent="0">
              <a:buNone/>
              <a:defRPr sz="874"/>
            </a:lvl4pPr>
            <a:lvl5pPr marL="1775948" indent="0">
              <a:buNone/>
              <a:defRPr sz="874"/>
            </a:lvl5pPr>
            <a:lvl6pPr marL="2219935" indent="0">
              <a:buNone/>
              <a:defRPr sz="874"/>
            </a:lvl6pPr>
            <a:lvl7pPr marL="2663922" indent="0">
              <a:buNone/>
              <a:defRPr sz="874"/>
            </a:lvl7pPr>
            <a:lvl8pPr marL="3107908" indent="0">
              <a:buNone/>
              <a:defRPr sz="874"/>
            </a:lvl8pPr>
            <a:lvl9pPr marL="3551895" indent="0">
              <a:buNone/>
              <a:defRPr sz="874"/>
            </a:lvl9pPr>
          </a:lstStyle>
          <a:p>
            <a:pPr lvl="0"/>
            <a:r>
              <a:rPr lang="en-US"/>
              <a:t>Click to edit Master text styles</a:t>
            </a:r>
          </a:p>
        </p:txBody>
      </p:sp>
      <p:sp>
        <p:nvSpPr>
          <p:cNvPr id="5" name="Date Placeholder 4"/>
          <p:cNvSpPr>
            <a:spLocks noGrp="1"/>
          </p:cNvSpPr>
          <p:nvPr>
            <p:ph type="dt" sz="half" idx="10"/>
          </p:nvPr>
        </p:nvSpPr>
        <p:spPr/>
        <p:txBody>
          <a:bodyPr/>
          <a:lstStyle/>
          <a:p>
            <a:fld id="{F39CE879-B1DC-4BFA-94F3-3A446B63D92F}" type="datetimeFigureOut">
              <a:rPr lang="en-IN" smtClean="0"/>
              <a:t>07-02-2022</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58" y="690616"/>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8822BB8-216F-48C2-82EC-7F879AC32139}" type="slidenum">
              <a:rPr lang="en-IN" smtClean="0"/>
              <a:t>‹#›</a:t>
            </a:fld>
            <a:endParaRPr lang="en-IN"/>
          </a:p>
        </p:txBody>
      </p:sp>
    </p:spTree>
    <p:extLst>
      <p:ext uri="{BB962C8B-B14F-4D97-AF65-F5344CB8AC3E}">
        <p14:creationId xmlns:p14="http://schemas.microsoft.com/office/powerpoint/2010/main" val="2994775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34660" y="4661694"/>
            <a:ext cx="6565663" cy="550339"/>
          </a:xfrm>
        </p:spPr>
        <p:txBody>
          <a:bodyPr anchor="b">
            <a:normAutofit/>
          </a:bodyPr>
          <a:lstStyle>
            <a:lvl1pPr algn="l">
              <a:defRPr sz="2331"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34660" y="616592"/>
            <a:ext cx="6565663" cy="3743426"/>
          </a:xfrm>
        </p:spPr>
        <p:txBody>
          <a:bodyPr anchor="t">
            <a:normAutofit/>
          </a:bodyPr>
          <a:lstStyle>
            <a:lvl1pPr marL="0" indent="0" algn="ctr">
              <a:buNone/>
              <a:defRPr sz="1554"/>
            </a:lvl1pPr>
            <a:lvl2pPr marL="443987" indent="0">
              <a:buNone/>
              <a:defRPr sz="1554"/>
            </a:lvl2pPr>
            <a:lvl3pPr marL="887974" indent="0">
              <a:buNone/>
              <a:defRPr sz="1554"/>
            </a:lvl3pPr>
            <a:lvl4pPr marL="1331961" indent="0">
              <a:buNone/>
              <a:defRPr sz="1554"/>
            </a:lvl4pPr>
            <a:lvl5pPr marL="1775948" indent="0">
              <a:buNone/>
              <a:defRPr sz="1554"/>
            </a:lvl5pPr>
            <a:lvl6pPr marL="2219935" indent="0">
              <a:buNone/>
              <a:defRPr sz="1554"/>
            </a:lvl6pPr>
            <a:lvl7pPr marL="2663922" indent="0">
              <a:buNone/>
              <a:defRPr sz="1554"/>
            </a:lvl7pPr>
            <a:lvl8pPr marL="3107908" indent="0">
              <a:buNone/>
              <a:defRPr sz="1554"/>
            </a:lvl8pPr>
            <a:lvl9pPr marL="3551895" indent="0">
              <a:buNone/>
              <a:defRPr sz="1554"/>
            </a:lvl9pPr>
          </a:lstStyle>
          <a:p>
            <a:r>
              <a:rPr lang="en-US"/>
              <a:t>Click icon to add picture</a:t>
            </a:r>
            <a:endParaRPr lang="en-US" dirty="0"/>
          </a:p>
        </p:txBody>
      </p:sp>
      <p:sp>
        <p:nvSpPr>
          <p:cNvPr id="4" name="Text Placeholder 3"/>
          <p:cNvSpPr>
            <a:spLocks noGrp="1"/>
          </p:cNvSpPr>
          <p:nvPr>
            <p:ph type="body" sz="half" idx="2"/>
          </p:nvPr>
        </p:nvSpPr>
        <p:spPr>
          <a:xfrm>
            <a:off x="1934660" y="5212034"/>
            <a:ext cx="6565663" cy="479426"/>
          </a:xfrm>
        </p:spPr>
        <p:txBody>
          <a:bodyPr>
            <a:normAutofit/>
          </a:bodyPr>
          <a:lstStyle>
            <a:lvl1pPr marL="0" indent="0">
              <a:buNone/>
              <a:defRPr sz="1165"/>
            </a:lvl1pPr>
            <a:lvl2pPr marL="443987" indent="0">
              <a:buNone/>
              <a:defRPr sz="1165"/>
            </a:lvl2pPr>
            <a:lvl3pPr marL="887974" indent="0">
              <a:buNone/>
              <a:defRPr sz="971"/>
            </a:lvl3pPr>
            <a:lvl4pPr marL="1331961" indent="0">
              <a:buNone/>
              <a:defRPr sz="874"/>
            </a:lvl4pPr>
            <a:lvl5pPr marL="1775948" indent="0">
              <a:buNone/>
              <a:defRPr sz="874"/>
            </a:lvl5pPr>
            <a:lvl6pPr marL="2219935" indent="0">
              <a:buNone/>
              <a:defRPr sz="874"/>
            </a:lvl6pPr>
            <a:lvl7pPr marL="2663922" indent="0">
              <a:buNone/>
              <a:defRPr sz="874"/>
            </a:lvl7pPr>
            <a:lvl8pPr marL="3107908" indent="0">
              <a:buNone/>
              <a:defRPr sz="874"/>
            </a:lvl8pPr>
            <a:lvl9pPr marL="3551895" indent="0">
              <a:buNone/>
              <a:defRPr sz="874"/>
            </a:lvl9pPr>
          </a:lstStyle>
          <a:p>
            <a:pPr lvl="0"/>
            <a:r>
              <a:rPr lang="en-US"/>
              <a:t>Click to edit Master text styles</a:t>
            </a:r>
          </a:p>
        </p:txBody>
      </p:sp>
      <p:sp>
        <p:nvSpPr>
          <p:cNvPr id="5" name="Date Placeholder 4"/>
          <p:cNvSpPr>
            <a:spLocks noGrp="1"/>
          </p:cNvSpPr>
          <p:nvPr>
            <p:ph type="dt" sz="half" idx="10"/>
          </p:nvPr>
        </p:nvSpPr>
        <p:spPr/>
        <p:txBody>
          <a:bodyPr/>
          <a:lstStyle/>
          <a:p>
            <a:fld id="{F39CE879-B1DC-4BFA-94F3-3A446B63D92F}" type="datetimeFigureOut">
              <a:rPr lang="en-IN" smtClean="0"/>
              <a:t>07-02-2022</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58" y="4768570"/>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09187" y="4838902"/>
            <a:ext cx="582642" cy="354560"/>
          </a:xfrm>
        </p:spPr>
        <p:txBody>
          <a:bodyPr/>
          <a:lstStyle/>
          <a:p>
            <a:fld id="{98822BB8-216F-48C2-82EC-7F879AC32139}" type="slidenum">
              <a:rPr lang="en-IN" smtClean="0"/>
              <a:t>‹#›</a:t>
            </a:fld>
            <a:endParaRPr lang="en-IN"/>
          </a:p>
        </p:txBody>
      </p:sp>
    </p:spTree>
    <p:extLst>
      <p:ext uri="{BB962C8B-B14F-4D97-AF65-F5344CB8AC3E}">
        <p14:creationId xmlns:p14="http://schemas.microsoft.com/office/powerpoint/2010/main" val="1129664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34660" y="591961"/>
            <a:ext cx="6565663" cy="3026848"/>
          </a:xfrm>
        </p:spPr>
        <p:txBody>
          <a:bodyPr anchor="ctr">
            <a:normAutofit/>
          </a:bodyPr>
          <a:lstStyle>
            <a:lvl1pPr algn="l">
              <a:defRPr sz="4661" b="0" cap="none"/>
            </a:lvl1pPr>
          </a:lstStyle>
          <a:p>
            <a:r>
              <a:rPr lang="en-US"/>
              <a:t>Click to edit Master title style</a:t>
            </a:r>
            <a:endParaRPr lang="en-US" dirty="0"/>
          </a:p>
        </p:txBody>
      </p:sp>
      <p:sp>
        <p:nvSpPr>
          <p:cNvPr id="3" name="Text Placeholder 2"/>
          <p:cNvSpPr>
            <a:spLocks noGrp="1"/>
          </p:cNvSpPr>
          <p:nvPr>
            <p:ph type="body" idx="1"/>
          </p:nvPr>
        </p:nvSpPr>
        <p:spPr>
          <a:xfrm>
            <a:off x="1934660" y="4228061"/>
            <a:ext cx="6565663" cy="1510845"/>
          </a:xfrm>
        </p:spPr>
        <p:txBody>
          <a:bodyPr anchor="ctr">
            <a:normAutofit/>
          </a:bodyPr>
          <a:lstStyle>
            <a:lvl1pPr marL="0" indent="0" algn="l">
              <a:buNone/>
              <a:defRPr sz="1748">
                <a:solidFill>
                  <a:schemeClr val="tx1">
                    <a:lumMod val="65000"/>
                    <a:lumOff val="35000"/>
                  </a:schemeClr>
                </a:solidFill>
              </a:defRPr>
            </a:lvl1pPr>
            <a:lvl2pPr marL="443987" indent="0">
              <a:buNone/>
              <a:defRPr sz="1748">
                <a:solidFill>
                  <a:schemeClr val="tx1">
                    <a:tint val="75000"/>
                  </a:schemeClr>
                </a:solidFill>
              </a:defRPr>
            </a:lvl2pPr>
            <a:lvl3pPr marL="887974" indent="0">
              <a:buNone/>
              <a:defRPr sz="1554">
                <a:solidFill>
                  <a:schemeClr val="tx1">
                    <a:tint val="75000"/>
                  </a:schemeClr>
                </a:solidFill>
              </a:defRPr>
            </a:lvl3pPr>
            <a:lvl4pPr marL="1331961" indent="0">
              <a:buNone/>
              <a:defRPr sz="1360">
                <a:solidFill>
                  <a:schemeClr val="tx1">
                    <a:tint val="75000"/>
                  </a:schemeClr>
                </a:solidFill>
              </a:defRPr>
            </a:lvl4pPr>
            <a:lvl5pPr marL="1775948" indent="0">
              <a:buNone/>
              <a:defRPr sz="1360">
                <a:solidFill>
                  <a:schemeClr val="tx1">
                    <a:tint val="75000"/>
                  </a:schemeClr>
                </a:solidFill>
              </a:defRPr>
            </a:lvl5pPr>
            <a:lvl6pPr marL="2219935" indent="0">
              <a:buNone/>
              <a:defRPr sz="1360">
                <a:solidFill>
                  <a:schemeClr val="tx1">
                    <a:tint val="75000"/>
                  </a:schemeClr>
                </a:solidFill>
              </a:defRPr>
            </a:lvl6pPr>
            <a:lvl7pPr marL="2663922" indent="0">
              <a:buNone/>
              <a:defRPr sz="1360">
                <a:solidFill>
                  <a:schemeClr val="tx1">
                    <a:tint val="75000"/>
                  </a:schemeClr>
                </a:solidFill>
              </a:defRPr>
            </a:lvl7pPr>
            <a:lvl8pPr marL="3107908" indent="0">
              <a:buNone/>
              <a:defRPr sz="1360">
                <a:solidFill>
                  <a:schemeClr val="tx1">
                    <a:tint val="75000"/>
                  </a:schemeClr>
                </a:solidFill>
              </a:defRPr>
            </a:lvl8pPr>
            <a:lvl9pPr marL="3551895" indent="0">
              <a:buNone/>
              <a:defRPr sz="13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9CE879-B1DC-4BFA-94F3-3A446B63D92F}" type="datetimeFigureOut">
              <a:rPr lang="en-IN" smtClean="0"/>
              <a:t>07-02-2022</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3074904"/>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09187" y="3150271"/>
            <a:ext cx="582642" cy="354560"/>
          </a:xfrm>
        </p:spPr>
        <p:txBody>
          <a:bodyPr/>
          <a:lstStyle/>
          <a:p>
            <a:fld id="{98822BB8-216F-48C2-82EC-7F879AC32139}" type="slidenum">
              <a:rPr lang="en-IN" smtClean="0"/>
              <a:t>‹#›</a:t>
            </a:fld>
            <a:endParaRPr lang="en-IN"/>
          </a:p>
        </p:txBody>
      </p:sp>
    </p:spTree>
    <p:extLst>
      <p:ext uri="{BB962C8B-B14F-4D97-AF65-F5344CB8AC3E}">
        <p14:creationId xmlns:p14="http://schemas.microsoft.com/office/powerpoint/2010/main" val="437524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79387" y="591961"/>
            <a:ext cx="6085191" cy="2811815"/>
          </a:xfrm>
        </p:spPr>
        <p:txBody>
          <a:bodyPr anchor="ctr">
            <a:normAutofit/>
          </a:bodyPr>
          <a:lstStyle>
            <a:lvl1pPr algn="l">
              <a:defRPr sz="4661"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06325" y="3403777"/>
            <a:ext cx="5631312" cy="369976"/>
          </a:xfrm>
        </p:spPr>
        <p:txBody>
          <a:bodyPr anchor="ctr">
            <a:noAutofit/>
          </a:bodyPr>
          <a:lstStyle>
            <a:lvl1pPr marL="0" indent="0">
              <a:buFontTx/>
              <a:buNone/>
              <a:defRPr sz="1554">
                <a:solidFill>
                  <a:schemeClr val="tx1">
                    <a:lumMod val="50000"/>
                    <a:lumOff val="50000"/>
                  </a:schemeClr>
                </a:solidFill>
              </a:defRPr>
            </a:lvl1pPr>
            <a:lvl2pPr marL="443987" indent="0">
              <a:buFontTx/>
              <a:buNone/>
              <a:defRPr/>
            </a:lvl2pPr>
            <a:lvl3pPr marL="887974" indent="0">
              <a:buFontTx/>
              <a:buNone/>
              <a:defRPr/>
            </a:lvl3pPr>
            <a:lvl4pPr marL="1331961" indent="0">
              <a:buFontTx/>
              <a:buNone/>
              <a:defRPr/>
            </a:lvl4pPr>
            <a:lvl5pPr marL="1775948" indent="0">
              <a:buFontTx/>
              <a:buNone/>
              <a:defRPr/>
            </a:lvl5pPr>
          </a:lstStyle>
          <a:p>
            <a:pPr lvl="0"/>
            <a:r>
              <a:rPr lang="en-US"/>
              <a:t>Click to edit Master text styles</a:t>
            </a:r>
          </a:p>
        </p:txBody>
      </p:sp>
      <p:sp>
        <p:nvSpPr>
          <p:cNvPr id="3" name="Text Placeholder 2"/>
          <p:cNvSpPr>
            <a:spLocks noGrp="1"/>
          </p:cNvSpPr>
          <p:nvPr>
            <p:ph type="body" idx="1"/>
          </p:nvPr>
        </p:nvSpPr>
        <p:spPr>
          <a:xfrm>
            <a:off x="1934660" y="4228061"/>
            <a:ext cx="6565663" cy="1510845"/>
          </a:xfrm>
        </p:spPr>
        <p:txBody>
          <a:bodyPr anchor="ctr">
            <a:normAutofit/>
          </a:bodyPr>
          <a:lstStyle>
            <a:lvl1pPr marL="0" indent="0" algn="l">
              <a:buNone/>
              <a:defRPr sz="1748">
                <a:solidFill>
                  <a:schemeClr val="tx1">
                    <a:lumMod val="65000"/>
                    <a:lumOff val="35000"/>
                  </a:schemeClr>
                </a:solidFill>
              </a:defRPr>
            </a:lvl1pPr>
            <a:lvl2pPr marL="443987" indent="0">
              <a:buNone/>
              <a:defRPr sz="1748">
                <a:solidFill>
                  <a:schemeClr val="tx1">
                    <a:tint val="75000"/>
                  </a:schemeClr>
                </a:solidFill>
              </a:defRPr>
            </a:lvl2pPr>
            <a:lvl3pPr marL="887974" indent="0">
              <a:buNone/>
              <a:defRPr sz="1554">
                <a:solidFill>
                  <a:schemeClr val="tx1">
                    <a:tint val="75000"/>
                  </a:schemeClr>
                </a:solidFill>
              </a:defRPr>
            </a:lvl3pPr>
            <a:lvl4pPr marL="1331961" indent="0">
              <a:buNone/>
              <a:defRPr sz="1360">
                <a:solidFill>
                  <a:schemeClr val="tx1">
                    <a:tint val="75000"/>
                  </a:schemeClr>
                </a:solidFill>
              </a:defRPr>
            </a:lvl4pPr>
            <a:lvl5pPr marL="1775948" indent="0">
              <a:buNone/>
              <a:defRPr sz="1360">
                <a:solidFill>
                  <a:schemeClr val="tx1">
                    <a:tint val="75000"/>
                  </a:schemeClr>
                </a:solidFill>
              </a:defRPr>
            </a:lvl5pPr>
            <a:lvl6pPr marL="2219935" indent="0">
              <a:buNone/>
              <a:defRPr sz="1360">
                <a:solidFill>
                  <a:schemeClr val="tx1">
                    <a:tint val="75000"/>
                  </a:schemeClr>
                </a:solidFill>
              </a:defRPr>
            </a:lvl6pPr>
            <a:lvl7pPr marL="2663922" indent="0">
              <a:buNone/>
              <a:defRPr sz="1360">
                <a:solidFill>
                  <a:schemeClr val="tx1">
                    <a:tint val="75000"/>
                  </a:schemeClr>
                </a:solidFill>
              </a:defRPr>
            </a:lvl7pPr>
            <a:lvl8pPr marL="3107908" indent="0">
              <a:buNone/>
              <a:defRPr sz="1360">
                <a:solidFill>
                  <a:schemeClr val="tx1">
                    <a:tint val="75000"/>
                  </a:schemeClr>
                </a:solidFill>
              </a:defRPr>
            </a:lvl8pPr>
            <a:lvl9pPr marL="3551895" indent="0">
              <a:buNone/>
              <a:defRPr sz="13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9CE879-B1DC-4BFA-94F3-3A446B63D92F}" type="datetimeFigureOut">
              <a:rPr lang="en-IN" smtClean="0"/>
              <a:t>07-02-2022</a:t>
            </a:fld>
            <a:endParaRPr lang="en-IN"/>
          </a:p>
        </p:txBody>
      </p:sp>
      <p:sp>
        <p:nvSpPr>
          <p:cNvPr id="5" name="Footer Placeholder 4"/>
          <p:cNvSpPr>
            <a:spLocks noGrp="1"/>
          </p:cNvSpPr>
          <p:nvPr>
            <p:ph type="ftr" sz="quarter" idx="11"/>
          </p:nvPr>
        </p:nvSpPr>
        <p:spPr/>
        <p:txBody>
          <a:bodyPr/>
          <a:lstStyle/>
          <a:p>
            <a:endParaRPr lang="en-IN"/>
          </a:p>
        </p:txBody>
      </p:sp>
      <p:sp>
        <p:nvSpPr>
          <p:cNvPr id="19" name="Freeform 11"/>
          <p:cNvSpPr/>
          <p:nvPr/>
        </p:nvSpPr>
        <p:spPr bwMode="auto">
          <a:xfrm flipV="1">
            <a:off x="58" y="3074904"/>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09187" y="3150271"/>
            <a:ext cx="582642" cy="354560"/>
          </a:xfrm>
        </p:spPr>
        <p:txBody>
          <a:bodyPr/>
          <a:lstStyle/>
          <a:p>
            <a:fld id="{98822BB8-216F-48C2-82EC-7F879AC32139}" type="slidenum">
              <a:rPr lang="en-IN" smtClean="0"/>
              <a:t>‹#›</a:t>
            </a:fld>
            <a:endParaRPr lang="en-IN"/>
          </a:p>
        </p:txBody>
      </p:sp>
      <p:sp>
        <p:nvSpPr>
          <p:cNvPr id="14" name="TextBox 13"/>
          <p:cNvSpPr txBox="1"/>
          <p:nvPr/>
        </p:nvSpPr>
        <p:spPr>
          <a:xfrm>
            <a:off x="1801096" y="629255"/>
            <a:ext cx="455493" cy="567855"/>
          </a:xfrm>
          <a:prstGeom prst="rect">
            <a:avLst/>
          </a:prstGeom>
        </p:spPr>
        <p:txBody>
          <a:bodyPr vert="horz" lIns="88794" tIns="44397" rIns="88794" bIns="44397" rtlCol="0" anchor="ctr">
            <a:noAutofit/>
          </a:bodyPr>
          <a:lstStyle/>
          <a:p>
            <a:pPr lvl="0"/>
            <a:r>
              <a:rPr lang="en-US" sz="7769" baseline="0" dirty="0">
                <a:ln w="3175" cmpd="sng">
                  <a:noFill/>
                </a:ln>
                <a:solidFill>
                  <a:schemeClr val="accent1"/>
                </a:solidFill>
                <a:effectLst/>
                <a:latin typeface="Arial"/>
              </a:rPr>
              <a:t>“</a:t>
            </a:r>
          </a:p>
        </p:txBody>
      </p:sp>
      <p:sp>
        <p:nvSpPr>
          <p:cNvPr id="15" name="TextBox 14"/>
          <p:cNvSpPr txBox="1"/>
          <p:nvPr/>
        </p:nvSpPr>
        <p:spPr>
          <a:xfrm>
            <a:off x="8136913" y="2821241"/>
            <a:ext cx="455493" cy="567855"/>
          </a:xfrm>
          <a:prstGeom prst="rect">
            <a:avLst/>
          </a:prstGeom>
        </p:spPr>
        <p:txBody>
          <a:bodyPr vert="horz" lIns="88794" tIns="44397" rIns="88794" bIns="44397" rtlCol="0" anchor="ctr">
            <a:noAutofit/>
          </a:bodyPr>
          <a:lstStyle/>
          <a:p>
            <a:pPr lvl="0"/>
            <a:r>
              <a:rPr lang="en-US" sz="7769"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41392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34660" y="2367846"/>
            <a:ext cx="6565663" cy="2646001"/>
          </a:xfrm>
        </p:spPr>
        <p:txBody>
          <a:bodyPr anchor="b">
            <a:normAutofit/>
          </a:bodyPr>
          <a:lstStyle>
            <a:lvl1pPr algn="l">
              <a:defRPr sz="4661" b="0"/>
            </a:lvl1pPr>
          </a:lstStyle>
          <a:p>
            <a:r>
              <a:rPr lang="en-US"/>
              <a:t>Click to edit Master title style</a:t>
            </a:r>
            <a:endParaRPr lang="en-US" dirty="0"/>
          </a:p>
        </p:txBody>
      </p:sp>
      <p:sp>
        <p:nvSpPr>
          <p:cNvPr id="4" name="Text Placeholder 3"/>
          <p:cNvSpPr>
            <a:spLocks noGrp="1"/>
          </p:cNvSpPr>
          <p:nvPr>
            <p:ph type="body" sz="half" idx="2"/>
          </p:nvPr>
        </p:nvSpPr>
        <p:spPr>
          <a:xfrm>
            <a:off x="1934660" y="5031670"/>
            <a:ext cx="6565663" cy="708510"/>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39CE879-B1DC-4BFA-94F3-3A446B63D92F}" type="datetimeFigureOut">
              <a:rPr lang="en-IN" smtClean="0"/>
              <a:t>07-02-2022</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58" y="4768570"/>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09187" y="4838902"/>
            <a:ext cx="582642" cy="354560"/>
          </a:xfrm>
        </p:spPr>
        <p:txBody>
          <a:bodyPr/>
          <a:lstStyle/>
          <a:p>
            <a:fld id="{98822BB8-216F-48C2-82EC-7F879AC32139}" type="slidenum">
              <a:rPr lang="en-IN" smtClean="0"/>
              <a:t>‹#›</a:t>
            </a:fld>
            <a:endParaRPr lang="en-IN"/>
          </a:p>
        </p:txBody>
      </p:sp>
    </p:spTree>
    <p:extLst>
      <p:ext uri="{BB962C8B-B14F-4D97-AF65-F5344CB8AC3E}">
        <p14:creationId xmlns:p14="http://schemas.microsoft.com/office/powerpoint/2010/main" val="2500053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79387" y="591961"/>
            <a:ext cx="6085191" cy="2811815"/>
          </a:xfrm>
        </p:spPr>
        <p:txBody>
          <a:bodyPr anchor="ctr">
            <a:normAutofit/>
          </a:bodyPr>
          <a:lstStyle>
            <a:lvl1pPr algn="l">
              <a:defRPr sz="4661"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34659" y="4217723"/>
            <a:ext cx="6661586" cy="813947"/>
          </a:xfrm>
        </p:spPr>
        <p:txBody>
          <a:bodyPr anchor="b">
            <a:noAutofit/>
          </a:bodyPr>
          <a:lstStyle>
            <a:lvl1pPr marL="0" indent="0">
              <a:buFontTx/>
              <a:buNone/>
              <a:defRPr sz="2331">
                <a:solidFill>
                  <a:schemeClr val="accent1"/>
                </a:solidFill>
              </a:defRPr>
            </a:lvl1pPr>
            <a:lvl2pPr marL="443987" indent="0">
              <a:buFontTx/>
              <a:buNone/>
              <a:defRPr/>
            </a:lvl2pPr>
            <a:lvl3pPr marL="887974" indent="0">
              <a:buFontTx/>
              <a:buNone/>
              <a:defRPr/>
            </a:lvl3pPr>
            <a:lvl4pPr marL="1331961" indent="0">
              <a:buFontTx/>
              <a:buNone/>
              <a:defRPr/>
            </a:lvl4pPr>
            <a:lvl5pPr marL="1775948"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34659" y="5031670"/>
            <a:ext cx="6661586" cy="708510"/>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39CE879-B1DC-4BFA-94F3-3A446B63D92F}" type="datetimeFigureOut">
              <a:rPr lang="en-IN" smtClean="0"/>
              <a:t>07-02-2022</a:t>
            </a:fld>
            <a:endParaRPr lang="en-IN"/>
          </a:p>
        </p:txBody>
      </p:sp>
      <p:sp>
        <p:nvSpPr>
          <p:cNvPr id="6" name="Footer Placeholder 5"/>
          <p:cNvSpPr>
            <a:spLocks noGrp="1"/>
          </p:cNvSpPr>
          <p:nvPr>
            <p:ph type="ftr" sz="quarter" idx="11"/>
          </p:nvPr>
        </p:nvSpPr>
        <p:spPr/>
        <p:txBody>
          <a:bodyPr/>
          <a:lstStyle/>
          <a:p>
            <a:endParaRPr lang="en-IN"/>
          </a:p>
        </p:txBody>
      </p:sp>
      <p:sp>
        <p:nvSpPr>
          <p:cNvPr id="20" name="Freeform 11"/>
          <p:cNvSpPr/>
          <p:nvPr/>
        </p:nvSpPr>
        <p:spPr bwMode="auto">
          <a:xfrm flipV="1">
            <a:off x="58" y="4768570"/>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09187" y="4838902"/>
            <a:ext cx="582642" cy="354560"/>
          </a:xfrm>
        </p:spPr>
        <p:txBody>
          <a:bodyPr/>
          <a:lstStyle/>
          <a:p>
            <a:fld id="{98822BB8-216F-48C2-82EC-7F879AC32139}" type="slidenum">
              <a:rPr lang="en-IN" smtClean="0"/>
              <a:t>‹#›</a:t>
            </a:fld>
            <a:endParaRPr lang="en-IN"/>
          </a:p>
        </p:txBody>
      </p:sp>
      <p:sp>
        <p:nvSpPr>
          <p:cNvPr id="11" name="TextBox 10"/>
          <p:cNvSpPr txBox="1"/>
          <p:nvPr/>
        </p:nvSpPr>
        <p:spPr>
          <a:xfrm>
            <a:off x="1801096" y="629255"/>
            <a:ext cx="455493" cy="567855"/>
          </a:xfrm>
          <a:prstGeom prst="rect">
            <a:avLst/>
          </a:prstGeom>
        </p:spPr>
        <p:txBody>
          <a:bodyPr vert="horz" lIns="88794" tIns="44397" rIns="88794" bIns="44397" rtlCol="0" anchor="ctr">
            <a:noAutofit/>
          </a:bodyPr>
          <a:lstStyle/>
          <a:p>
            <a:pPr lvl="0"/>
            <a:r>
              <a:rPr lang="en-US" sz="7769" baseline="0" dirty="0">
                <a:ln w="3175" cmpd="sng">
                  <a:noFill/>
                </a:ln>
                <a:solidFill>
                  <a:schemeClr val="accent1"/>
                </a:solidFill>
                <a:effectLst/>
                <a:latin typeface="Arial"/>
              </a:rPr>
              <a:t>“</a:t>
            </a:r>
          </a:p>
        </p:txBody>
      </p:sp>
      <p:sp>
        <p:nvSpPr>
          <p:cNvPr id="12" name="TextBox 11"/>
          <p:cNvSpPr txBox="1"/>
          <p:nvPr/>
        </p:nvSpPr>
        <p:spPr>
          <a:xfrm>
            <a:off x="8136913" y="2821241"/>
            <a:ext cx="455493" cy="567855"/>
          </a:xfrm>
          <a:prstGeom prst="rect">
            <a:avLst/>
          </a:prstGeom>
        </p:spPr>
        <p:txBody>
          <a:bodyPr vert="horz" lIns="88794" tIns="44397" rIns="88794" bIns="44397" rtlCol="0" anchor="ctr">
            <a:noAutofit/>
          </a:bodyPr>
          <a:lstStyle/>
          <a:p>
            <a:pPr lvl="0"/>
            <a:r>
              <a:rPr lang="en-US" sz="7769"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99838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34660" y="609253"/>
            <a:ext cx="6565662" cy="2796686"/>
          </a:xfrm>
        </p:spPr>
        <p:txBody>
          <a:bodyPr anchor="ctr">
            <a:normAutofit/>
          </a:bodyPr>
          <a:lstStyle>
            <a:lvl1pPr algn="l">
              <a:defRPr sz="4661" b="0"/>
            </a:lvl1pPr>
          </a:lstStyle>
          <a:p>
            <a:r>
              <a:rPr lang="en-US"/>
              <a:t>Click to edit Master title style</a:t>
            </a:r>
            <a:endParaRPr lang="en-US" dirty="0"/>
          </a:p>
        </p:txBody>
      </p:sp>
      <p:sp>
        <p:nvSpPr>
          <p:cNvPr id="21" name="Text Placeholder 9"/>
          <p:cNvSpPr>
            <a:spLocks noGrp="1"/>
          </p:cNvSpPr>
          <p:nvPr>
            <p:ph type="body" sz="quarter" idx="13"/>
          </p:nvPr>
        </p:nvSpPr>
        <p:spPr>
          <a:xfrm>
            <a:off x="1934660" y="4217723"/>
            <a:ext cx="6565663" cy="813947"/>
          </a:xfrm>
        </p:spPr>
        <p:txBody>
          <a:bodyPr anchor="b">
            <a:noAutofit/>
          </a:bodyPr>
          <a:lstStyle>
            <a:lvl1pPr marL="0" indent="0">
              <a:buFontTx/>
              <a:buNone/>
              <a:defRPr sz="2331">
                <a:solidFill>
                  <a:schemeClr val="accent1"/>
                </a:solidFill>
              </a:defRPr>
            </a:lvl1pPr>
            <a:lvl2pPr marL="443987" indent="0">
              <a:buFontTx/>
              <a:buNone/>
              <a:defRPr/>
            </a:lvl2pPr>
            <a:lvl3pPr marL="887974" indent="0">
              <a:buFontTx/>
              <a:buNone/>
              <a:defRPr/>
            </a:lvl3pPr>
            <a:lvl4pPr marL="1331961" indent="0">
              <a:buFontTx/>
              <a:buNone/>
              <a:defRPr/>
            </a:lvl4pPr>
            <a:lvl5pPr marL="1775948"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34660" y="5031670"/>
            <a:ext cx="6565663" cy="708510"/>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F39CE879-B1DC-4BFA-94F3-3A446B63D92F}" type="datetimeFigureOut">
              <a:rPr lang="en-IN" smtClean="0"/>
              <a:t>07-02-2022</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58" y="4768570"/>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09187" y="4838902"/>
            <a:ext cx="582642" cy="354560"/>
          </a:xfrm>
        </p:spPr>
        <p:txBody>
          <a:bodyPr/>
          <a:lstStyle/>
          <a:p>
            <a:fld id="{98822BB8-216F-48C2-82EC-7F879AC32139}" type="slidenum">
              <a:rPr lang="en-IN" smtClean="0"/>
              <a:t>‹#›</a:t>
            </a:fld>
            <a:endParaRPr lang="en-IN"/>
          </a:p>
        </p:txBody>
      </p:sp>
    </p:spTree>
    <p:extLst>
      <p:ext uri="{BB962C8B-B14F-4D97-AF65-F5344CB8AC3E}">
        <p14:creationId xmlns:p14="http://schemas.microsoft.com/office/powerpoint/2010/main" val="25966713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9CE879-B1DC-4BFA-94F3-3A446B63D92F}" type="datetimeFigureOut">
              <a:rPr lang="en-IN" smtClean="0"/>
              <a:t>07-02-2022</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690616"/>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8822BB8-216F-48C2-82EC-7F879AC32139}" type="slidenum">
              <a:rPr lang="en-IN" smtClean="0"/>
              <a:t>‹#›</a:t>
            </a:fld>
            <a:endParaRPr lang="en-IN"/>
          </a:p>
        </p:txBody>
      </p:sp>
    </p:spTree>
    <p:extLst>
      <p:ext uri="{BB962C8B-B14F-4D97-AF65-F5344CB8AC3E}">
        <p14:creationId xmlns:p14="http://schemas.microsoft.com/office/powerpoint/2010/main" val="2852464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1069" y="609253"/>
            <a:ext cx="1649519" cy="5130929"/>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34660" y="609253"/>
            <a:ext cx="4697516" cy="51309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9CE879-B1DC-4BFA-94F3-3A446B63D92F}" type="datetimeFigureOut">
              <a:rPr lang="en-IN" smtClean="0"/>
              <a:t>07-02-2022</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690616"/>
            <a:ext cx="1352932" cy="49330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8822BB8-216F-48C2-82EC-7F879AC32139}" type="slidenum">
              <a:rPr lang="en-IN" smtClean="0"/>
              <a:t>‹#›</a:t>
            </a:fld>
            <a:endParaRPr lang="en-IN"/>
          </a:p>
        </p:txBody>
      </p:sp>
    </p:spTree>
    <p:extLst>
      <p:ext uri="{BB962C8B-B14F-4D97-AF65-F5344CB8AC3E}">
        <p14:creationId xmlns:p14="http://schemas.microsoft.com/office/powerpoint/2010/main" val="2305720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1985"/>
            <a:ext cx="1973289" cy="6446539"/>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339" y="277"/>
            <a:ext cx="1944477" cy="6654677"/>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150" cy="6659563"/>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37433" y="606051"/>
            <a:ext cx="6562889" cy="124382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34660" y="2071864"/>
            <a:ext cx="6565663" cy="377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41365" y="5957570"/>
            <a:ext cx="763320" cy="359460"/>
          </a:xfrm>
          <a:prstGeom prst="rect">
            <a:avLst/>
          </a:prstGeom>
        </p:spPr>
        <p:txBody>
          <a:bodyPr vert="horz" lIns="91440" tIns="45720" rIns="91440" bIns="45720" rtlCol="0" anchor="ctr"/>
          <a:lstStyle>
            <a:lvl1pPr algn="r">
              <a:defRPr sz="874">
                <a:solidFill>
                  <a:schemeClr val="tx1">
                    <a:tint val="75000"/>
                  </a:schemeClr>
                </a:solidFill>
              </a:defRPr>
            </a:lvl1pPr>
          </a:lstStyle>
          <a:p>
            <a:fld id="{F39CE879-B1DC-4BFA-94F3-3A446B63D92F}" type="datetimeFigureOut">
              <a:rPr lang="en-IN" smtClean="0"/>
              <a:t>07-02-2022</a:t>
            </a:fld>
            <a:endParaRPr lang="en-IN"/>
          </a:p>
        </p:txBody>
      </p:sp>
      <p:sp>
        <p:nvSpPr>
          <p:cNvPr id="5" name="Footer Placeholder 4"/>
          <p:cNvSpPr>
            <a:spLocks noGrp="1"/>
          </p:cNvSpPr>
          <p:nvPr>
            <p:ph type="ftr" sz="quarter" idx="3"/>
          </p:nvPr>
        </p:nvSpPr>
        <p:spPr>
          <a:xfrm>
            <a:off x="1934659" y="5958269"/>
            <a:ext cx="5693662" cy="354560"/>
          </a:xfrm>
          <a:prstGeom prst="rect">
            <a:avLst/>
          </a:prstGeom>
        </p:spPr>
        <p:txBody>
          <a:bodyPr vert="horz" lIns="91440" tIns="45720" rIns="91440" bIns="45720" rtlCol="0" anchor="ctr"/>
          <a:lstStyle>
            <a:lvl1pPr algn="l">
              <a:defRPr sz="874">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09187" y="764989"/>
            <a:ext cx="582642" cy="354560"/>
          </a:xfrm>
          <a:prstGeom prst="rect">
            <a:avLst/>
          </a:prstGeom>
        </p:spPr>
        <p:txBody>
          <a:bodyPr vert="horz" lIns="91440" tIns="45720" rIns="91440" bIns="45720" rtlCol="0" anchor="ctr"/>
          <a:lstStyle>
            <a:lvl1pPr algn="r">
              <a:defRPr sz="1942">
                <a:solidFill>
                  <a:srgbClr val="FEFFFF"/>
                </a:solidFill>
              </a:defRPr>
            </a:lvl1pPr>
          </a:lstStyle>
          <a:p>
            <a:fld id="{98822BB8-216F-48C2-82EC-7F879AC32139}" type="slidenum">
              <a:rPr lang="en-IN" smtClean="0"/>
              <a:t>‹#›</a:t>
            </a:fld>
            <a:endParaRPr lang="en-IN"/>
          </a:p>
        </p:txBody>
      </p:sp>
    </p:spTree>
    <p:extLst>
      <p:ext uri="{BB962C8B-B14F-4D97-AF65-F5344CB8AC3E}">
        <p14:creationId xmlns:p14="http://schemas.microsoft.com/office/powerpoint/2010/main" val="23259152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txStyles>
    <p:titleStyle>
      <a:lvl1pPr algn="l" defTabSz="443987" rtl="0" eaLnBrk="1" latinLnBrk="0" hangingPunct="1">
        <a:spcBef>
          <a:spcPct val="0"/>
        </a:spcBef>
        <a:buNone/>
        <a:defRPr sz="3496"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32990" indent="-332990" algn="l" defTabSz="443987" rtl="0" eaLnBrk="1" latinLnBrk="0" hangingPunct="1">
        <a:spcBef>
          <a:spcPts val="971"/>
        </a:spcBef>
        <a:spcAft>
          <a:spcPts val="0"/>
        </a:spcAft>
        <a:buClr>
          <a:schemeClr val="accent1"/>
        </a:buClr>
        <a:buFont typeface="Wingdings 3" charset="2"/>
        <a:buChar char=""/>
        <a:defRPr sz="1748" kern="1200">
          <a:solidFill>
            <a:schemeClr val="tx1">
              <a:lumMod val="75000"/>
              <a:lumOff val="25000"/>
            </a:schemeClr>
          </a:solidFill>
          <a:latin typeface="+mn-lt"/>
          <a:ea typeface="+mn-ea"/>
          <a:cs typeface="+mn-cs"/>
        </a:defRPr>
      </a:lvl1pPr>
      <a:lvl2pPr marL="721479" indent="-277492" algn="l" defTabSz="443987" rtl="0" eaLnBrk="1" latinLnBrk="0" hangingPunct="1">
        <a:spcBef>
          <a:spcPts val="971"/>
        </a:spcBef>
        <a:spcAft>
          <a:spcPts val="0"/>
        </a:spcAft>
        <a:buClr>
          <a:schemeClr val="accent1"/>
        </a:buClr>
        <a:buFont typeface="Wingdings 3" charset="2"/>
        <a:buChar char=""/>
        <a:defRPr sz="1554" kern="1200">
          <a:solidFill>
            <a:schemeClr val="tx1">
              <a:lumMod val="75000"/>
              <a:lumOff val="25000"/>
            </a:schemeClr>
          </a:solidFill>
          <a:latin typeface="+mn-lt"/>
          <a:ea typeface="+mn-ea"/>
          <a:cs typeface="+mn-cs"/>
        </a:defRPr>
      </a:lvl2pPr>
      <a:lvl3pPr marL="1109967" indent="-221993" algn="l" defTabSz="443987" rtl="0" eaLnBrk="1" latinLnBrk="0" hangingPunct="1">
        <a:spcBef>
          <a:spcPts val="971"/>
        </a:spcBef>
        <a:spcAft>
          <a:spcPts val="0"/>
        </a:spcAft>
        <a:buClr>
          <a:schemeClr val="accent1"/>
        </a:buClr>
        <a:buFont typeface="Wingdings 3" charset="2"/>
        <a:buChar char=""/>
        <a:defRPr sz="1360" kern="1200">
          <a:solidFill>
            <a:schemeClr val="tx1">
              <a:lumMod val="75000"/>
              <a:lumOff val="25000"/>
            </a:schemeClr>
          </a:solidFill>
          <a:latin typeface="+mn-lt"/>
          <a:ea typeface="+mn-ea"/>
          <a:cs typeface="+mn-cs"/>
        </a:defRPr>
      </a:lvl3pPr>
      <a:lvl4pPr marL="1553954" indent="-221993" algn="l" defTabSz="443987" rtl="0" eaLnBrk="1" latinLnBrk="0" hangingPunct="1">
        <a:spcBef>
          <a:spcPts val="971"/>
        </a:spcBef>
        <a:spcAft>
          <a:spcPts val="0"/>
        </a:spcAft>
        <a:buClr>
          <a:schemeClr val="accent1"/>
        </a:buClr>
        <a:buFont typeface="Wingdings 3" charset="2"/>
        <a:buChar char=""/>
        <a:defRPr sz="1165" kern="1200">
          <a:solidFill>
            <a:schemeClr val="tx1">
              <a:lumMod val="75000"/>
              <a:lumOff val="25000"/>
            </a:schemeClr>
          </a:solidFill>
          <a:latin typeface="+mn-lt"/>
          <a:ea typeface="+mn-ea"/>
          <a:cs typeface="+mn-cs"/>
        </a:defRPr>
      </a:lvl4pPr>
      <a:lvl5pPr marL="1997941" indent="-221993" algn="l" defTabSz="443987" rtl="0" eaLnBrk="1" latinLnBrk="0" hangingPunct="1">
        <a:spcBef>
          <a:spcPts val="971"/>
        </a:spcBef>
        <a:spcAft>
          <a:spcPts val="0"/>
        </a:spcAft>
        <a:buClr>
          <a:schemeClr val="accent1"/>
        </a:buClr>
        <a:buFont typeface="Wingdings 3" charset="2"/>
        <a:buChar char=""/>
        <a:defRPr sz="1165" kern="1200">
          <a:solidFill>
            <a:schemeClr val="tx1">
              <a:lumMod val="75000"/>
              <a:lumOff val="25000"/>
            </a:schemeClr>
          </a:solidFill>
          <a:latin typeface="+mn-lt"/>
          <a:ea typeface="+mn-ea"/>
          <a:cs typeface="+mn-cs"/>
        </a:defRPr>
      </a:lvl5pPr>
      <a:lvl6pPr marL="2441928" indent="-221993" algn="l" defTabSz="443987" rtl="0" eaLnBrk="1" latinLnBrk="0" hangingPunct="1">
        <a:spcBef>
          <a:spcPts val="971"/>
        </a:spcBef>
        <a:spcAft>
          <a:spcPts val="0"/>
        </a:spcAft>
        <a:buClr>
          <a:schemeClr val="accent1"/>
        </a:buClr>
        <a:buFont typeface="Wingdings 3" charset="2"/>
        <a:buChar char=""/>
        <a:defRPr sz="1165" kern="1200">
          <a:solidFill>
            <a:schemeClr val="tx1">
              <a:lumMod val="75000"/>
              <a:lumOff val="25000"/>
            </a:schemeClr>
          </a:solidFill>
          <a:latin typeface="+mn-lt"/>
          <a:ea typeface="+mn-ea"/>
          <a:cs typeface="+mn-cs"/>
        </a:defRPr>
      </a:lvl6pPr>
      <a:lvl7pPr marL="2885915" indent="-221993" algn="l" defTabSz="443987" rtl="0" eaLnBrk="1" latinLnBrk="0" hangingPunct="1">
        <a:spcBef>
          <a:spcPts val="971"/>
        </a:spcBef>
        <a:spcAft>
          <a:spcPts val="0"/>
        </a:spcAft>
        <a:buClr>
          <a:schemeClr val="accent1"/>
        </a:buClr>
        <a:buFont typeface="Wingdings 3" charset="2"/>
        <a:buChar char=""/>
        <a:defRPr sz="1165" kern="1200">
          <a:solidFill>
            <a:schemeClr val="tx1">
              <a:lumMod val="75000"/>
              <a:lumOff val="25000"/>
            </a:schemeClr>
          </a:solidFill>
          <a:latin typeface="+mn-lt"/>
          <a:ea typeface="+mn-ea"/>
          <a:cs typeface="+mn-cs"/>
        </a:defRPr>
      </a:lvl7pPr>
      <a:lvl8pPr marL="3329902" indent="-221993" algn="l" defTabSz="443987" rtl="0" eaLnBrk="1" latinLnBrk="0" hangingPunct="1">
        <a:spcBef>
          <a:spcPts val="971"/>
        </a:spcBef>
        <a:spcAft>
          <a:spcPts val="0"/>
        </a:spcAft>
        <a:buClr>
          <a:schemeClr val="accent1"/>
        </a:buClr>
        <a:buFont typeface="Wingdings 3" charset="2"/>
        <a:buChar char=""/>
        <a:defRPr sz="1165" kern="1200">
          <a:solidFill>
            <a:schemeClr val="tx1">
              <a:lumMod val="75000"/>
              <a:lumOff val="25000"/>
            </a:schemeClr>
          </a:solidFill>
          <a:latin typeface="+mn-lt"/>
          <a:ea typeface="+mn-ea"/>
          <a:cs typeface="+mn-cs"/>
        </a:defRPr>
      </a:lvl8pPr>
      <a:lvl9pPr marL="3773889" indent="-221993" algn="l" defTabSz="443987" rtl="0" eaLnBrk="1" latinLnBrk="0" hangingPunct="1">
        <a:spcBef>
          <a:spcPts val="971"/>
        </a:spcBef>
        <a:spcAft>
          <a:spcPts val="0"/>
        </a:spcAft>
        <a:buClr>
          <a:schemeClr val="accent1"/>
        </a:buClr>
        <a:buFont typeface="Wingdings 3" charset="2"/>
        <a:buChar char=""/>
        <a:defRPr sz="1165" kern="1200">
          <a:solidFill>
            <a:schemeClr val="tx1">
              <a:lumMod val="75000"/>
              <a:lumOff val="25000"/>
            </a:schemeClr>
          </a:solidFill>
          <a:latin typeface="+mn-lt"/>
          <a:ea typeface="+mn-ea"/>
          <a:cs typeface="+mn-cs"/>
        </a:defRPr>
      </a:lvl9pPr>
    </p:bodyStyle>
    <p:otherStyle>
      <a:defPPr>
        <a:defRPr lang="en-US"/>
      </a:defPPr>
      <a:lvl1pPr marL="0" algn="l" defTabSz="443987" rtl="0" eaLnBrk="1" latinLnBrk="0" hangingPunct="1">
        <a:defRPr sz="1748" kern="1200">
          <a:solidFill>
            <a:schemeClr val="tx1"/>
          </a:solidFill>
          <a:latin typeface="+mn-lt"/>
          <a:ea typeface="+mn-ea"/>
          <a:cs typeface="+mn-cs"/>
        </a:defRPr>
      </a:lvl1pPr>
      <a:lvl2pPr marL="443987" algn="l" defTabSz="443987" rtl="0" eaLnBrk="1" latinLnBrk="0" hangingPunct="1">
        <a:defRPr sz="1748" kern="1200">
          <a:solidFill>
            <a:schemeClr val="tx1"/>
          </a:solidFill>
          <a:latin typeface="+mn-lt"/>
          <a:ea typeface="+mn-ea"/>
          <a:cs typeface="+mn-cs"/>
        </a:defRPr>
      </a:lvl2pPr>
      <a:lvl3pPr marL="887974" algn="l" defTabSz="443987" rtl="0" eaLnBrk="1" latinLnBrk="0" hangingPunct="1">
        <a:defRPr sz="1748" kern="1200">
          <a:solidFill>
            <a:schemeClr val="tx1"/>
          </a:solidFill>
          <a:latin typeface="+mn-lt"/>
          <a:ea typeface="+mn-ea"/>
          <a:cs typeface="+mn-cs"/>
        </a:defRPr>
      </a:lvl3pPr>
      <a:lvl4pPr marL="1331961" algn="l" defTabSz="443987" rtl="0" eaLnBrk="1" latinLnBrk="0" hangingPunct="1">
        <a:defRPr sz="1748" kern="1200">
          <a:solidFill>
            <a:schemeClr val="tx1"/>
          </a:solidFill>
          <a:latin typeface="+mn-lt"/>
          <a:ea typeface="+mn-ea"/>
          <a:cs typeface="+mn-cs"/>
        </a:defRPr>
      </a:lvl4pPr>
      <a:lvl5pPr marL="1775948" algn="l" defTabSz="443987" rtl="0" eaLnBrk="1" latinLnBrk="0" hangingPunct="1">
        <a:defRPr sz="1748" kern="1200">
          <a:solidFill>
            <a:schemeClr val="tx1"/>
          </a:solidFill>
          <a:latin typeface="+mn-lt"/>
          <a:ea typeface="+mn-ea"/>
          <a:cs typeface="+mn-cs"/>
        </a:defRPr>
      </a:lvl5pPr>
      <a:lvl6pPr marL="2219935" algn="l" defTabSz="443987" rtl="0" eaLnBrk="1" latinLnBrk="0" hangingPunct="1">
        <a:defRPr sz="1748" kern="1200">
          <a:solidFill>
            <a:schemeClr val="tx1"/>
          </a:solidFill>
          <a:latin typeface="+mn-lt"/>
          <a:ea typeface="+mn-ea"/>
          <a:cs typeface="+mn-cs"/>
        </a:defRPr>
      </a:lvl6pPr>
      <a:lvl7pPr marL="2663922" algn="l" defTabSz="443987" rtl="0" eaLnBrk="1" latinLnBrk="0" hangingPunct="1">
        <a:defRPr sz="1748" kern="1200">
          <a:solidFill>
            <a:schemeClr val="tx1"/>
          </a:solidFill>
          <a:latin typeface="+mn-lt"/>
          <a:ea typeface="+mn-ea"/>
          <a:cs typeface="+mn-cs"/>
        </a:defRPr>
      </a:lvl7pPr>
      <a:lvl8pPr marL="3107908" algn="l" defTabSz="443987" rtl="0" eaLnBrk="1" latinLnBrk="0" hangingPunct="1">
        <a:defRPr sz="1748" kern="1200">
          <a:solidFill>
            <a:schemeClr val="tx1"/>
          </a:solidFill>
          <a:latin typeface="+mn-lt"/>
          <a:ea typeface="+mn-ea"/>
          <a:cs typeface="+mn-cs"/>
        </a:defRPr>
      </a:lvl8pPr>
      <a:lvl9pPr marL="3551895" algn="l" defTabSz="443987" rtl="0" eaLnBrk="1" latinLnBrk="0" hangingPunct="1">
        <a:defRPr sz="174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935CD-47B5-4368-BE0B-47CF85377792}"/>
              </a:ext>
            </a:extLst>
          </p:cNvPr>
          <p:cNvSpPr>
            <a:spLocks noGrp="1"/>
          </p:cNvSpPr>
          <p:nvPr>
            <p:ph type="ctrTitle"/>
          </p:nvPr>
        </p:nvSpPr>
        <p:spPr>
          <a:xfrm>
            <a:off x="3606633" y="-1"/>
            <a:ext cx="5348824" cy="7007087"/>
          </a:xfrm>
        </p:spPr>
        <p:txBody>
          <a:bodyPr anchor="t">
            <a:normAutofit fontScale="90000"/>
          </a:bodyPr>
          <a:lstStyle/>
          <a:p>
            <a:pPr marL="432000" algn="r">
              <a:spcBef>
                <a:spcPts val="1200"/>
              </a:spcBef>
              <a:spcAft>
                <a:spcPts val="5400"/>
              </a:spcAft>
              <a:tabLst>
                <a:tab pos="252000" algn="r"/>
              </a:tabLst>
            </a:pPr>
            <a:r>
              <a:rPr lang="en-US" sz="4900" dirty="0">
                <a:latin typeface="Times New Roman" panose="02020603050405020304" pitchFamily="18" charset="0"/>
                <a:cs typeface="Times New Roman" panose="02020603050405020304" pitchFamily="18" charset="0"/>
              </a:rPr>
              <a:t>Multi-Key Generation over a Cellular Model with a Helper</a:t>
            </a:r>
            <a:br>
              <a:rPr lang="en-US" sz="4900" dirty="0">
                <a:latin typeface="Times New Roman" panose="02020603050405020304" pitchFamily="18" charset="0"/>
                <a:cs typeface="Times New Roman" panose="02020603050405020304" pitchFamily="18" charset="0"/>
              </a:rPr>
            </a:br>
            <a:r>
              <a:rPr lang="en-US" sz="4900" dirty="0">
                <a:latin typeface="Times New Roman" panose="02020603050405020304" pitchFamily="18" charset="0"/>
                <a:cs typeface="Times New Roman" panose="02020603050405020304" pitchFamily="18" charset="0"/>
              </a:rPr>
              <a:t>By:</a:t>
            </a:r>
            <a:br>
              <a:rPr lang="en-US" sz="5300" dirty="0"/>
            </a:br>
            <a:br>
              <a:rPr lang="en-US" sz="5400" dirty="0"/>
            </a:br>
            <a:r>
              <a:rPr lang="en-US" sz="2000" dirty="0" err="1">
                <a:latin typeface="Times New Roman" panose="02020603050405020304" pitchFamily="18" charset="0"/>
                <a:cs typeface="Times New Roman" panose="02020603050405020304" pitchFamily="18" charset="0"/>
              </a:rPr>
              <a:t>Chaganti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Revanth</a:t>
            </a:r>
            <a:r>
              <a:rPr lang="en-US" sz="2000" dirty="0">
                <a:latin typeface="Times New Roman" panose="02020603050405020304" pitchFamily="18" charset="0"/>
                <a:cs typeface="Times New Roman" panose="02020603050405020304" pitchFamily="18" charset="0"/>
              </a:rPr>
              <a:t> Chowdary (Q929B649)</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fi-FI" sz="2000" dirty="0">
                <a:latin typeface="Times New Roman" panose="02020603050405020304" pitchFamily="18" charset="0"/>
                <a:cs typeface="Times New Roman" panose="02020603050405020304" pitchFamily="18" charset="0"/>
              </a:rPr>
              <a:t>Pakalapati Sri Lakshmi Prasanna Kumar   (W845T858)</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Mengani</a:t>
            </a:r>
            <a:r>
              <a:rPr lang="en-US" sz="2000" dirty="0">
                <a:latin typeface="Times New Roman" panose="02020603050405020304" pitchFamily="18" charset="0"/>
                <a:cs typeface="Times New Roman" panose="02020603050405020304" pitchFamily="18" charset="0"/>
              </a:rPr>
              <a:t> Ajay Kumar(Y955T859)</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IN" sz="5300" b="1"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1085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41" name="Rectangle 9">
            <a:extLst>
              <a:ext uri="{FF2B5EF4-FFF2-40B4-BE49-F238E27FC236}">
                <a16:creationId xmlns:a16="http://schemas.microsoft.com/office/drawing/2014/main" id="{0A46F010-D160-4609-8979-FFD8C1EA6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07486" cy="66595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190719E-5D93-426A-8224-DF618CEC5486}"/>
              </a:ext>
            </a:extLst>
          </p:cNvPr>
          <p:cNvSpPr>
            <a:spLocks noGrp="1"/>
          </p:cNvSpPr>
          <p:nvPr>
            <p:ph type="title"/>
          </p:nvPr>
        </p:nvSpPr>
        <p:spPr>
          <a:xfrm>
            <a:off x="2519694" y="606051"/>
            <a:ext cx="6074311" cy="1243827"/>
          </a:xfrm>
        </p:spPr>
        <p:txBody>
          <a:bodyPr>
            <a:normAutofit/>
          </a:bodyPr>
          <a:lstStyle/>
          <a:p>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43" name="Rectangle 11">
            <a:extLst>
              <a:ext uri="{FF2B5EF4-FFF2-40B4-BE49-F238E27FC236}">
                <a16:creationId xmlns:a16="http://schemas.microsoft.com/office/drawing/2014/main" id="{81B8C4F6-C3AC-4C94-8EC7-E4F7B7E9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130097" cy="66595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13">
            <a:extLst>
              <a:ext uri="{FF2B5EF4-FFF2-40B4-BE49-F238E27FC236}">
                <a16:creationId xmlns:a16="http://schemas.microsoft.com/office/drawing/2014/main" id="{0B789310-9859-4942-98C8-3D2F12AAA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21986"/>
            <a:ext cx="2130098" cy="6446541"/>
            <a:chOff x="2487613" y="285750"/>
            <a:chExt cx="2428875" cy="5654676"/>
          </a:xfrm>
          <a:solidFill>
            <a:schemeClr val="tx2">
              <a:lumMod val="60000"/>
              <a:lumOff val="40000"/>
              <a:alpha val="40000"/>
            </a:schemeClr>
          </a:solidFill>
        </p:grpSpPr>
        <p:sp>
          <p:nvSpPr>
            <p:cNvPr id="15" name="Freeform 11">
              <a:extLst>
                <a:ext uri="{FF2B5EF4-FFF2-40B4-BE49-F238E27FC236}">
                  <a16:creationId xmlns:a16="http://schemas.microsoft.com/office/drawing/2014/main" id="{FE9E5460-2AA9-4786-B69C-23DBEF356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45" name="Freeform 12">
              <a:extLst>
                <a:ext uri="{FF2B5EF4-FFF2-40B4-BE49-F238E27FC236}">
                  <a16:creationId xmlns:a16="http://schemas.microsoft.com/office/drawing/2014/main" id="{E344A2AF-3860-4427-B13E-98021C17A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17" name="Freeform 13">
              <a:extLst>
                <a:ext uri="{FF2B5EF4-FFF2-40B4-BE49-F238E27FC236}">
                  <a16:creationId xmlns:a16="http://schemas.microsoft.com/office/drawing/2014/main" id="{DDBDD44E-1DC0-48AB-8FEC-E098D9197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18" name="Freeform 14">
              <a:extLst>
                <a:ext uri="{FF2B5EF4-FFF2-40B4-BE49-F238E27FC236}">
                  <a16:creationId xmlns:a16="http://schemas.microsoft.com/office/drawing/2014/main" id="{3151FF3E-5E3F-4D82-A684-0003BACEA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19" name="Freeform 15">
              <a:extLst>
                <a:ext uri="{FF2B5EF4-FFF2-40B4-BE49-F238E27FC236}">
                  <a16:creationId xmlns:a16="http://schemas.microsoft.com/office/drawing/2014/main" id="{C6CBF27E-7F0C-4489-95A7-82DE1C046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0" name="Freeform 16">
              <a:extLst>
                <a:ext uri="{FF2B5EF4-FFF2-40B4-BE49-F238E27FC236}">
                  <a16:creationId xmlns:a16="http://schemas.microsoft.com/office/drawing/2014/main" id="{233BE304-221E-425E-A484-4B2E5F405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21" name="Freeform 17">
              <a:extLst>
                <a:ext uri="{FF2B5EF4-FFF2-40B4-BE49-F238E27FC236}">
                  <a16:creationId xmlns:a16="http://schemas.microsoft.com/office/drawing/2014/main" id="{10D5734E-EAEA-4A08-86A9-39BD5563E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22" name="Freeform 18">
              <a:extLst>
                <a:ext uri="{FF2B5EF4-FFF2-40B4-BE49-F238E27FC236}">
                  <a16:creationId xmlns:a16="http://schemas.microsoft.com/office/drawing/2014/main" id="{4D47FE86-98D1-4E35-86E4-16E9A19A6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23" name="Freeform 19">
              <a:extLst>
                <a:ext uri="{FF2B5EF4-FFF2-40B4-BE49-F238E27FC236}">
                  <a16:creationId xmlns:a16="http://schemas.microsoft.com/office/drawing/2014/main" id="{F00661F9-B224-4DB1-8EFB-ABF9402BD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24" name="Freeform 20">
              <a:extLst>
                <a:ext uri="{FF2B5EF4-FFF2-40B4-BE49-F238E27FC236}">
                  <a16:creationId xmlns:a16="http://schemas.microsoft.com/office/drawing/2014/main" id="{679DCB4E-8D36-4B7A-AF0C-8399F113A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25" name="Freeform 21">
              <a:extLst>
                <a:ext uri="{FF2B5EF4-FFF2-40B4-BE49-F238E27FC236}">
                  <a16:creationId xmlns:a16="http://schemas.microsoft.com/office/drawing/2014/main" id="{4FAD51F6-D24C-4FD6-BEAE-41F0E5A82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26" name="Freeform 22">
              <a:extLst>
                <a:ext uri="{FF2B5EF4-FFF2-40B4-BE49-F238E27FC236}">
                  <a16:creationId xmlns:a16="http://schemas.microsoft.com/office/drawing/2014/main" id="{87AC773F-6D31-458A-9DD7-76566C8A9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28" name="Group 27">
            <a:extLst>
              <a:ext uri="{FF2B5EF4-FFF2-40B4-BE49-F238E27FC236}">
                <a16:creationId xmlns:a16="http://schemas.microsoft.com/office/drawing/2014/main" id="{6F1CEC7A-E419-4950-AA57-B00546C29C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324" y="-763"/>
            <a:ext cx="1760444" cy="6655715"/>
            <a:chOff x="6627813" y="194833"/>
            <a:chExt cx="1952625" cy="5678918"/>
          </a:xfrm>
          <a:solidFill>
            <a:schemeClr val="tx2">
              <a:lumMod val="75000"/>
              <a:alpha val="70000"/>
            </a:schemeClr>
          </a:solidFill>
        </p:grpSpPr>
        <p:sp>
          <p:nvSpPr>
            <p:cNvPr id="29" name="Freeform 27">
              <a:extLst>
                <a:ext uri="{FF2B5EF4-FFF2-40B4-BE49-F238E27FC236}">
                  <a16:creationId xmlns:a16="http://schemas.microsoft.com/office/drawing/2014/main" id="{7AE7DCD1-5235-45E8-B229-15A3E3962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30" name="Freeform 28">
              <a:extLst>
                <a:ext uri="{FF2B5EF4-FFF2-40B4-BE49-F238E27FC236}">
                  <a16:creationId xmlns:a16="http://schemas.microsoft.com/office/drawing/2014/main" id="{C82E58C3-65A5-4079-BF94-E675AA410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31" name="Freeform 29">
              <a:extLst>
                <a:ext uri="{FF2B5EF4-FFF2-40B4-BE49-F238E27FC236}">
                  <a16:creationId xmlns:a16="http://schemas.microsoft.com/office/drawing/2014/main" id="{7AABE1FA-6DC8-4A47-AC5C-F05B9C111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32" name="Freeform 30">
              <a:extLst>
                <a:ext uri="{FF2B5EF4-FFF2-40B4-BE49-F238E27FC236}">
                  <a16:creationId xmlns:a16="http://schemas.microsoft.com/office/drawing/2014/main" id="{17BB7298-8900-4C67-B800-BD241F019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33" name="Freeform 31">
              <a:extLst>
                <a:ext uri="{FF2B5EF4-FFF2-40B4-BE49-F238E27FC236}">
                  <a16:creationId xmlns:a16="http://schemas.microsoft.com/office/drawing/2014/main" id="{EE3442F8-53C2-490C-94EF-E423ECB95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34" name="Freeform 32">
              <a:extLst>
                <a:ext uri="{FF2B5EF4-FFF2-40B4-BE49-F238E27FC236}">
                  <a16:creationId xmlns:a16="http://schemas.microsoft.com/office/drawing/2014/main" id="{3DBEA916-8B10-493A-8CBF-9B5FA2A4A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35" name="Freeform 33">
              <a:extLst>
                <a:ext uri="{FF2B5EF4-FFF2-40B4-BE49-F238E27FC236}">
                  <a16:creationId xmlns:a16="http://schemas.microsoft.com/office/drawing/2014/main" id="{248DB27B-F9EA-4F81-A746-7D57B768E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36" name="Freeform 34">
              <a:extLst>
                <a:ext uri="{FF2B5EF4-FFF2-40B4-BE49-F238E27FC236}">
                  <a16:creationId xmlns:a16="http://schemas.microsoft.com/office/drawing/2014/main" id="{998E5C90-2A81-4013-AE09-2023B4407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37" name="Freeform 35">
              <a:extLst>
                <a:ext uri="{FF2B5EF4-FFF2-40B4-BE49-F238E27FC236}">
                  <a16:creationId xmlns:a16="http://schemas.microsoft.com/office/drawing/2014/main" id="{86A8318B-7607-4519-8EEB-C7DD509653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38" name="Freeform 36">
              <a:extLst>
                <a:ext uri="{FF2B5EF4-FFF2-40B4-BE49-F238E27FC236}">
                  <a16:creationId xmlns:a16="http://schemas.microsoft.com/office/drawing/2014/main" id="{5009FB1B-4865-45DB-8727-F012E3ACA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39" name="Freeform 37">
              <a:extLst>
                <a:ext uri="{FF2B5EF4-FFF2-40B4-BE49-F238E27FC236}">
                  <a16:creationId xmlns:a16="http://schemas.microsoft.com/office/drawing/2014/main" id="{5B209B64-3A98-4B1A-857A-2368AFED6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40" name="Freeform 38">
              <a:extLst>
                <a:ext uri="{FF2B5EF4-FFF2-40B4-BE49-F238E27FC236}">
                  <a16:creationId xmlns:a16="http://schemas.microsoft.com/office/drawing/2014/main" id="{EB3B5D03-7AE3-411C-A820-6844E7D0C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42" name="Freeform 11">
            <a:extLst>
              <a:ext uri="{FF2B5EF4-FFF2-40B4-BE49-F238E27FC236}">
                <a16:creationId xmlns:a16="http://schemas.microsoft.com/office/drawing/2014/main" id="{91328346-8BAD-4616-B50B-5CFDA5648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8" y="3312741"/>
            <a:ext cx="820355" cy="499191"/>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p:nvSpPr>
          <p:cNvPr id="5" name="Content Placeholder 4">
            <a:extLst>
              <a:ext uri="{FF2B5EF4-FFF2-40B4-BE49-F238E27FC236}">
                <a16:creationId xmlns:a16="http://schemas.microsoft.com/office/drawing/2014/main" id="{5AC5F11E-6417-4D56-BB82-B29B36991417}"/>
              </a:ext>
            </a:extLst>
          </p:cNvPr>
          <p:cNvSpPr>
            <a:spLocks noGrp="1"/>
          </p:cNvSpPr>
          <p:nvPr>
            <p:ph idx="1"/>
          </p:nvPr>
        </p:nvSpPr>
        <p:spPr>
          <a:xfrm>
            <a:off x="2519694" y="2071863"/>
            <a:ext cx="6074311" cy="3668316"/>
          </a:xfrm>
        </p:spPr>
        <p:txBody>
          <a:bodyPr>
            <a:normAutofit/>
          </a:bodyPr>
          <a:lstStyle/>
          <a:p>
            <a:pPr marL="0" indent="0">
              <a:buNone/>
            </a:pPr>
            <a:r>
              <a:rPr lang="en-US" sz="1600" dirty="0">
                <a:latin typeface="Times New Roman" panose="02020603050405020304" pitchFamily="18" charset="0"/>
                <a:cs typeface="Times New Roman" panose="02020603050405020304" pitchFamily="18" charset="0"/>
              </a:rPr>
              <a:t>                   </a:t>
            </a:r>
          </a:p>
          <a:p>
            <a:pPr marL="0" indent="0" algn="just">
              <a:buNone/>
            </a:pPr>
            <a:r>
              <a:rPr lang="en-US" sz="1600" b="1" dirty="0">
                <a:latin typeface="Times New Roman" panose="02020603050405020304" pitchFamily="18" charset="0"/>
                <a:cs typeface="Times New Roman" panose="02020603050405020304" pitchFamily="18" charset="0"/>
              </a:rPr>
              <a:t>The project throws some light on the issue generating multiple keys for a cellular source model with a helper simultaneously. The model proposed consists of four terminals, X0, X1, X2, and X3, each of them observes one component of a vector source. Terminal X0 tries to generate two secret keys K1 and K2 respectively with terminals X1 and X2 with the help of terminal X3. All terminals are allowed to communicate over a public channel. An eavesdropper is assumed to have access to the public discussion. Both symmetric and asymmetric key generations are considered in implementing the proposed model.</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0368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46F010-D160-4609-8979-FFD8C1EA6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07486" cy="66595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CF3495-B28A-40A4-B497-F9BCE1125599}"/>
              </a:ext>
            </a:extLst>
          </p:cNvPr>
          <p:cNvSpPr>
            <a:spLocks noGrp="1"/>
          </p:cNvSpPr>
          <p:nvPr>
            <p:ph type="title"/>
          </p:nvPr>
        </p:nvSpPr>
        <p:spPr>
          <a:xfrm>
            <a:off x="2519694" y="606051"/>
            <a:ext cx="6074311" cy="1243827"/>
          </a:xfrm>
        </p:spPr>
        <p:txBody>
          <a:bodyPr>
            <a:normAutofit/>
          </a:bodyPr>
          <a:lstStyle/>
          <a:p>
            <a:r>
              <a:rPr lang="en-IN" b="1">
                <a:effectLst/>
                <a:latin typeface="Times New Roman" panose="02020603050405020304" pitchFamily="18" charset="0"/>
                <a:ea typeface="Calibri" panose="020F0502020204030204" pitchFamily="34" charset="0"/>
              </a:rPr>
              <a:t>INTRODUCTION</a:t>
            </a:r>
            <a:endParaRPr lang="en-IN"/>
          </a:p>
        </p:txBody>
      </p:sp>
      <p:sp>
        <p:nvSpPr>
          <p:cNvPr id="10" name="Rectangle 9">
            <a:extLst>
              <a:ext uri="{FF2B5EF4-FFF2-40B4-BE49-F238E27FC236}">
                <a16:creationId xmlns:a16="http://schemas.microsoft.com/office/drawing/2014/main" id="{81B8C4F6-C3AC-4C94-8EC7-E4F7B7E9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130097" cy="66595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0B789310-9859-4942-98C8-3D2F12AAA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21986"/>
            <a:ext cx="2130098" cy="6446541"/>
            <a:chOff x="2487613" y="285750"/>
            <a:chExt cx="2428875" cy="5654676"/>
          </a:xfrm>
          <a:solidFill>
            <a:schemeClr val="tx2">
              <a:lumMod val="60000"/>
              <a:lumOff val="40000"/>
              <a:alpha val="40000"/>
            </a:schemeClr>
          </a:solidFill>
        </p:grpSpPr>
        <p:sp>
          <p:nvSpPr>
            <p:cNvPr id="13" name="Freeform 11">
              <a:extLst>
                <a:ext uri="{FF2B5EF4-FFF2-40B4-BE49-F238E27FC236}">
                  <a16:creationId xmlns:a16="http://schemas.microsoft.com/office/drawing/2014/main" id="{FE9E5460-2AA9-4786-B69C-23DBEF356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14" name="Freeform 12">
              <a:extLst>
                <a:ext uri="{FF2B5EF4-FFF2-40B4-BE49-F238E27FC236}">
                  <a16:creationId xmlns:a16="http://schemas.microsoft.com/office/drawing/2014/main" id="{E344A2AF-3860-4427-B13E-98021C17A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15" name="Freeform 13">
              <a:extLst>
                <a:ext uri="{FF2B5EF4-FFF2-40B4-BE49-F238E27FC236}">
                  <a16:creationId xmlns:a16="http://schemas.microsoft.com/office/drawing/2014/main" id="{DDBDD44E-1DC0-48AB-8FEC-E098D9197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16" name="Freeform 14">
              <a:extLst>
                <a:ext uri="{FF2B5EF4-FFF2-40B4-BE49-F238E27FC236}">
                  <a16:creationId xmlns:a16="http://schemas.microsoft.com/office/drawing/2014/main" id="{3151FF3E-5E3F-4D82-A684-0003BACEA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17" name="Freeform 15">
              <a:extLst>
                <a:ext uri="{FF2B5EF4-FFF2-40B4-BE49-F238E27FC236}">
                  <a16:creationId xmlns:a16="http://schemas.microsoft.com/office/drawing/2014/main" id="{C6CBF27E-7F0C-4489-95A7-82DE1C046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18" name="Freeform 16">
              <a:extLst>
                <a:ext uri="{FF2B5EF4-FFF2-40B4-BE49-F238E27FC236}">
                  <a16:creationId xmlns:a16="http://schemas.microsoft.com/office/drawing/2014/main" id="{233BE304-221E-425E-A484-4B2E5F405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19" name="Freeform 17">
              <a:extLst>
                <a:ext uri="{FF2B5EF4-FFF2-40B4-BE49-F238E27FC236}">
                  <a16:creationId xmlns:a16="http://schemas.microsoft.com/office/drawing/2014/main" id="{10D5734E-EAEA-4A08-86A9-39BD5563E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20" name="Freeform 18">
              <a:extLst>
                <a:ext uri="{FF2B5EF4-FFF2-40B4-BE49-F238E27FC236}">
                  <a16:creationId xmlns:a16="http://schemas.microsoft.com/office/drawing/2014/main" id="{4D47FE86-98D1-4E35-86E4-16E9A19A6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21" name="Freeform 19">
              <a:extLst>
                <a:ext uri="{FF2B5EF4-FFF2-40B4-BE49-F238E27FC236}">
                  <a16:creationId xmlns:a16="http://schemas.microsoft.com/office/drawing/2014/main" id="{F00661F9-B224-4DB1-8EFB-ABF9402BD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22" name="Freeform 20">
              <a:extLst>
                <a:ext uri="{FF2B5EF4-FFF2-40B4-BE49-F238E27FC236}">
                  <a16:creationId xmlns:a16="http://schemas.microsoft.com/office/drawing/2014/main" id="{679DCB4E-8D36-4B7A-AF0C-8399F113A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23" name="Freeform 21">
              <a:extLst>
                <a:ext uri="{FF2B5EF4-FFF2-40B4-BE49-F238E27FC236}">
                  <a16:creationId xmlns:a16="http://schemas.microsoft.com/office/drawing/2014/main" id="{4FAD51F6-D24C-4FD6-BEAE-41F0E5A82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24" name="Freeform 22">
              <a:extLst>
                <a:ext uri="{FF2B5EF4-FFF2-40B4-BE49-F238E27FC236}">
                  <a16:creationId xmlns:a16="http://schemas.microsoft.com/office/drawing/2014/main" id="{87AC773F-6D31-458A-9DD7-76566C8A9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26" name="Group 25">
            <a:extLst>
              <a:ext uri="{FF2B5EF4-FFF2-40B4-BE49-F238E27FC236}">
                <a16:creationId xmlns:a16="http://schemas.microsoft.com/office/drawing/2014/main" id="{6F1CEC7A-E419-4950-AA57-B00546C29C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324" y="-763"/>
            <a:ext cx="1760444" cy="6655715"/>
            <a:chOff x="6627813" y="194833"/>
            <a:chExt cx="1952625" cy="5678918"/>
          </a:xfrm>
          <a:solidFill>
            <a:schemeClr val="tx2">
              <a:lumMod val="75000"/>
              <a:alpha val="70000"/>
            </a:schemeClr>
          </a:solidFill>
        </p:grpSpPr>
        <p:sp>
          <p:nvSpPr>
            <p:cNvPr id="27" name="Freeform 27">
              <a:extLst>
                <a:ext uri="{FF2B5EF4-FFF2-40B4-BE49-F238E27FC236}">
                  <a16:creationId xmlns:a16="http://schemas.microsoft.com/office/drawing/2014/main" id="{7AE7DCD1-5235-45E8-B229-15A3E3962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28" name="Freeform 28">
              <a:extLst>
                <a:ext uri="{FF2B5EF4-FFF2-40B4-BE49-F238E27FC236}">
                  <a16:creationId xmlns:a16="http://schemas.microsoft.com/office/drawing/2014/main" id="{C82E58C3-65A5-4079-BF94-E675AA410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29" name="Freeform 29">
              <a:extLst>
                <a:ext uri="{FF2B5EF4-FFF2-40B4-BE49-F238E27FC236}">
                  <a16:creationId xmlns:a16="http://schemas.microsoft.com/office/drawing/2014/main" id="{7AABE1FA-6DC8-4A47-AC5C-F05B9C111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30" name="Freeform 30">
              <a:extLst>
                <a:ext uri="{FF2B5EF4-FFF2-40B4-BE49-F238E27FC236}">
                  <a16:creationId xmlns:a16="http://schemas.microsoft.com/office/drawing/2014/main" id="{17BB7298-8900-4C67-B800-BD241F019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31" name="Freeform 31">
              <a:extLst>
                <a:ext uri="{FF2B5EF4-FFF2-40B4-BE49-F238E27FC236}">
                  <a16:creationId xmlns:a16="http://schemas.microsoft.com/office/drawing/2014/main" id="{EE3442F8-53C2-490C-94EF-E423ECB95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32" name="Freeform 32">
              <a:extLst>
                <a:ext uri="{FF2B5EF4-FFF2-40B4-BE49-F238E27FC236}">
                  <a16:creationId xmlns:a16="http://schemas.microsoft.com/office/drawing/2014/main" id="{3DBEA916-8B10-493A-8CBF-9B5FA2A4A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33" name="Freeform 33">
              <a:extLst>
                <a:ext uri="{FF2B5EF4-FFF2-40B4-BE49-F238E27FC236}">
                  <a16:creationId xmlns:a16="http://schemas.microsoft.com/office/drawing/2014/main" id="{248DB27B-F9EA-4F81-A746-7D57B768E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34" name="Freeform 34">
              <a:extLst>
                <a:ext uri="{FF2B5EF4-FFF2-40B4-BE49-F238E27FC236}">
                  <a16:creationId xmlns:a16="http://schemas.microsoft.com/office/drawing/2014/main" id="{998E5C90-2A81-4013-AE09-2023B4407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35" name="Freeform 35">
              <a:extLst>
                <a:ext uri="{FF2B5EF4-FFF2-40B4-BE49-F238E27FC236}">
                  <a16:creationId xmlns:a16="http://schemas.microsoft.com/office/drawing/2014/main" id="{86A8318B-7607-4519-8EEB-C7DD509653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36" name="Freeform 36">
              <a:extLst>
                <a:ext uri="{FF2B5EF4-FFF2-40B4-BE49-F238E27FC236}">
                  <a16:creationId xmlns:a16="http://schemas.microsoft.com/office/drawing/2014/main" id="{5009FB1B-4865-45DB-8727-F012E3ACA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37" name="Freeform 37">
              <a:extLst>
                <a:ext uri="{FF2B5EF4-FFF2-40B4-BE49-F238E27FC236}">
                  <a16:creationId xmlns:a16="http://schemas.microsoft.com/office/drawing/2014/main" id="{5B209B64-3A98-4B1A-857A-2368AFED6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38" name="Freeform 38">
              <a:extLst>
                <a:ext uri="{FF2B5EF4-FFF2-40B4-BE49-F238E27FC236}">
                  <a16:creationId xmlns:a16="http://schemas.microsoft.com/office/drawing/2014/main" id="{EB3B5D03-7AE3-411C-A820-6844E7D0C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40" name="Freeform 11">
            <a:extLst>
              <a:ext uri="{FF2B5EF4-FFF2-40B4-BE49-F238E27FC236}">
                <a16:creationId xmlns:a16="http://schemas.microsoft.com/office/drawing/2014/main" id="{91328346-8BAD-4616-B50B-5CFDA5648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8" y="3312741"/>
            <a:ext cx="820355" cy="499191"/>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p:nvSpPr>
          <p:cNvPr id="3" name="Content Placeholder 2">
            <a:extLst>
              <a:ext uri="{FF2B5EF4-FFF2-40B4-BE49-F238E27FC236}">
                <a16:creationId xmlns:a16="http://schemas.microsoft.com/office/drawing/2014/main" id="{7AF4EA2C-E095-46E4-9E3F-C5ABD594BE2A}"/>
              </a:ext>
            </a:extLst>
          </p:cNvPr>
          <p:cNvSpPr>
            <a:spLocks noGrp="1"/>
          </p:cNvSpPr>
          <p:nvPr>
            <p:ph idx="1"/>
          </p:nvPr>
        </p:nvSpPr>
        <p:spPr>
          <a:xfrm>
            <a:off x="2519694" y="2071863"/>
            <a:ext cx="6074311" cy="3668316"/>
          </a:xfrm>
        </p:spPr>
        <p:txBody>
          <a:bodyPr>
            <a:normAutofit/>
          </a:bodyPr>
          <a:lstStyle/>
          <a:p>
            <a:pPr algn="just"/>
            <a:r>
              <a:rPr lang="en-IN" sz="1600" dirty="0">
                <a:effectLst/>
                <a:latin typeface="Times New Roman" panose="02020603050405020304" pitchFamily="18" charset="0"/>
                <a:ea typeface="Calibri" panose="020F0502020204030204" pitchFamily="34" charset="0"/>
              </a:rPr>
              <a:t>Security is a prominent issue in means of remote communications. These days secure remote data exchange depends basically on encryption.</a:t>
            </a:r>
          </a:p>
          <a:p>
            <a:pPr algn="just"/>
            <a:r>
              <a:rPr lang="en-IN" sz="1600" dirty="0">
                <a:latin typeface="Times New Roman" panose="02020603050405020304" pitchFamily="18" charset="0"/>
                <a:ea typeface="Calibri" panose="020F0502020204030204" pitchFamily="34" charset="0"/>
              </a:rPr>
              <a:t>T</a:t>
            </a:r>
            <a:r>
              <a:rPr lang="en-IN" sz="1600" dirty="0">
                <a:effectLst/>
                <a:latin typeface="Times New Roman" panose="02020603050405020304" pitchFamily="18" charset="0"/>
                <a:ea typeface="Calibri" panose="020F0502020204030204" pitchFamily="34" charset="0"/>
              </a:rPr>
              <a:t>he most common way of encoding data is by generating secret key.</a:t>
            </a:r>
          </a:p>
          <a:p>
            <a:pPr algn="just"/>
            <a:r>
              <a:rPr lang="en-US" sz="1600" dirty="0">
                <a:latin typeface="Times New Roman" panose="02020603050405020304" pitchFamily="18" charset="0"/>
                <a:cs typeface="Times New Roman" panose="02020603050405020304" pitchFamily="18" charset="0"/>
              </a:rPr>
              <a:t>Since all terminals are allowed to communicate over a public channel, an eavesdropper is assumed to have access to the public discussion.</a:t>
            </a:r>
          </a:p>
          <a:p>
            <a:pPr algn="just"/>
            <a:r>
              <a:rPr lang="en-IN" sz="1600" dirty="0">
                <a:effectLst/>
                <a:latin typeface="Times New Roman" panose="02020603050405020304" pitchFamily="18" charset="0"/>
                <a:ea typeface="Calibri" panose="020F0502020204030204" pitchFamily="34" charset="0"/>
                <a:cs typeface="Times New Roman" panose="02020603050405020304" pitchFamily="18" charset="0"/>
              </a:rPr>
              <a:t>As generating secret key is considered it can be done in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b</a:t>
            </a:r>
            <a:r>
              <a:rPr lang="en-US" sz="1600" dirty="0">
                <a:latin typeface="Times New Roman" panose="02020603050405020304" pitchFamily="18" charset="0"/>
                <a:cs typeface="Times New Roman" panose="02020603050405020304" pitchFamily="18" charset="0"/>
              </a:rPr>
              <a:t>oth symmetric and asymmetric way.</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IN" sz="1600" dirty="0">
              <a:latin typeface="Times New Roman" panose="02020603050405020304" pitchFamily="18" charset="0"/>
            </a:endParaRPr>
          </a:p>
        </p:txBody>
      </p:sp>
    </p:spTree>
    <p:extLst>
      <p:ext uri="{BB962C8B-B14F-4D97-AF65-F5344CB8AC3E}">
        <p14:creationId xmlns:p14="http://schemas.microsoft.com/office/powerpoint/2010/main" val="1723606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0A46F010-D160-4609-8979-FFD8C1EA6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07486" cy="66595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81B8C4F6-C3AC-4C94-8EC7-E4F7B7E9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130097" cy="66595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0B789310-9859-4942-98C8-3D2F12AAA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21986"/>
            <a:ext cx="2130098" cy="6446541"/>
            <a:chOff x="2487613" y="285750"/>
            <a:chExt cx="2428875" cy="5654676"/>
          </a:xfrm>
          <a:solidFill>
            <a:schemeClr val="tx2">
              <a:lumMod val="60000"/>
              <a:lumOff val="40000"/>
              <a:alpha val="40000"/>
            </a:schemeClr>
          </a:solidFill>
        </p:grpSpPr>
        <p:sp>
          <p:nvSpPr>
            <p:cNvPr id="56" name="Freeform 11">
              <a:extLst>
                <a:ext uri="{FF2B5EF4-FFF2-40B4-BE49-F238E27FC236}">
                  <a16:creationId xmlns:a16="http://schemas.microsoft.com/office/drawing/2014/main" id="{FE9E5460-2AA9-4786-B69C-23DBEF356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57" name="Freeform 12">
              <a:extLst>
                <a:ext uri="{FF2B5EF4-FFF2-40B4-BE49-F238E27FC236}">
                  <a16:creationId xmlns:a16="http://schemas.microsoft.com/office/drawing/2014/main" id="{E344A2AF-3860-4427-B13E-98021C17A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58" name="Freeform 13">
              <a:extLst>
                <a:ext uri="{FF2B5EF4-FFF2-40B4-BE49-F238E27FC236}">
                  <a16:creationId xmlns:a16="http://schemas.microsoft.com/office/drawing/2014/main" id="{DDBDD44E-1DC0-48AB-8FEC-E098D9197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59" name="Freeform 14">
              <a:extLst>
                <a:ext uri="{FF2B5EF4-FFF2-40B4-BE49-F238E27FC236}">
                  <a16:creationId xmlns:a16="http://schemas.microsoft.com/office/drawing/2014/main" id="{3151FF3E-5E3F-4D82-A684-0003BACEA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60" name="Freeform 15">
              <a:extLst>
                <a:ext uri="{FF2B5EF4-FFF2-40B4-BE49-F238E27FC236}">
                  <a16:creationId xmlns:a16="http://schemas.microsoft.com/office/drawing/2014/main" id="{C6CBF27E-7F0C-4489-95A7-82DE1C046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61" name="Freeform 16">
              <a:extLst>
                <a:ext uri="{FF2B5EF4-FFF2-40B4-BE49-F238E27FC236}">
                  <a16:creationId xmlns:a16="http://schemas.microsoft.com/office/drawing/2014/main" id="{233BE304-221E-425E-A484-4B2E5F405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62" name="Freeform 17">
              <a:extLst>
                <a:ext uri="{FF2B5EF4-FFF2-40B4-BE49-F238E27FC236}">
                  <a16:creationId xmlns:a16="http://schemas.microsoft.com/office/drawing/2014/main" id="{10D5734E-EAEA-4A08-86A9-39BD5563E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63" name="Freeform 18">
              <a:extLst>
                <a:ext uri="{FF2B5EF4-FFF2-40B4-BE49-F238E27FC236}">
                  <a16:creationId xmlns:a16="http://schemas.microsoft.com/office/drawing/2014/main" id="{4D47FE86-98D1-4E35-86E4-16E9A19A6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64" name="Freeform 19">
              <a:extLst>
                <a:ext uri="{FF2B5EF4-FFF2-40B4-BE49-F238E27FC236}">
                  <a16:creationId xmlns:a16="http://schemas.microsoft.com/office/drawing/2014/main" id="{F00661F9-B224-4DB1-8EFB-ABF9402BD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65" name="Freeform 20">
              <a:extLst>
                <a:ext uri="{FF2B5EF4-FFF2-40B4-BE49-F238E27FC236}">
                  <a16:creationId xmlns:a16="http://schemas.microsoft.com/office/drawing/2014/main" id="{679DCB4E-8D36-4B7A-AF0C-8399F113A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66" name="Freeform 21">
              <a:extLst>
                <a:ext uri="{FF2B5EF4-FFF2-40B4-BE49-F238E27FC236}">
                  <a16:creationId xmlns:a16="http://schemas.microsoft.com/office/drawing/2014/main" id="{4FAD51F6-D24C-4FD6-BEAE-41F0E5A82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67" name="Freeform 22">
              <a:extLst>
                <a:ext uri="{FF2B5EF4-FFF2-40B4-BE49-F238E27FC236}">
                  <a16:creationId xmlns:a16="http://schemas.microsoft.com/office/drawing/2014/main" id="{87AC773F-6D31-458A-9DD7-76566C8A9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69" name="Group 68">
            <a:extLst>
              <a:ext uri="{FF2B5EF4-FFF2-40B4-BE49-F238E27FC236}">
                <a16:creationId xmlns:a16="http://schemas.microsoft.com/office/drawing/2014/main" id="{6F1CEC7A-E419-4950-AA57-B00546C29C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324" y="-763"/>
            <a:ext cx="1760444" cy="6655715"/>
            <a:chOff x="6627813" y="194833"/>
            <a:chExt cx="1952625" cy="5678918"/>
          </a:xfrm>
          <a:solidFill>
            <a:schemeClr val="tx2">
              <a:lumMod val="75000"/>
              <a:alpha val="70000"/>
            </a:schemeClr>
          </a:solidFill>
        </p:grpSpPr>
        <p:sp>
          <p:nvSpPr>
            <p:cNvPr id="70" name="Freeform 27">
              <a:extLst>
                <a:ext uri="{FF2B5EF4-FFF2-40B4-BE49-F238E27FC236}">
                  <a16:creationId xmlns:a16="http://schemas.microsoft.com/office/drawing/2014/main" id="{7AE7DCD1-5235-45E8-B229-15A3E3962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71" name="Freeform 28">
              <a:extLst>
                <a:ext uri="{FF2B5EF4-FFF2-40B4-BE49-F238E27FC236}">
                  <a16:creationId xmlns:a16="http://schemas.microsoft.com/office/drawing/2014/main" id="{C82E58C3-65A5-4079-BF94-E675AA410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72" name="Freeform 29">
              <a:extLst>
                <a:ext uri="{FF2B5EF4-FFF2-40B4-BE49-F238E27FC236}">
                  <a16:creationId xmlns:a16="http://schemas.microsoft.com/office/drawing/2014/main" id="{7AABE1FA-6DC8-4A47-AC5C-F05B9C111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73" name="Freeform 30">
              <a:extLst>
                <a:ext uri="{FF2B5EF4-FFF2-40B4-BE49-F238E27FC236}">
                  <a16:creationId xmlns:a16="http://schemas.microsoft.com/office/drawing/2014/main" id="{17BB7298-8900-4C67-B800-BD241F019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74" name="Freeform 31">
              <a:extLst>
                <a:ext uri="{FF2B5EF4-FFF2-40B4-BE49-F238E27FC236}">
                  <a16:creationId xmlns:a16="http://schemas.microsoft.com/office/drawing/2014/main" id="{EE3442F8-53C2-490C-94EF-E423ECB95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75" name="Freeform 32">
              <a:extLst>
                <a:ext uri="{FF2B5EF4-FFF2-40B4-BE49-F238E27FC236}">
                  <a16:creationId xmlns:a16="http://schemas.microsoft.com/office/drawing/2014/main" id="{3DBEA916-8B10-493A-8CBF-9B5FA2A4A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76" name="Freeform 33">
              <a:extLst>
                <a:ext uri="{FF2B5EF4-FFF2-40B4-BE49-F238E27FC236}">
                  <a16:creationId xmlns:a16="http://schemas.microsoft.com/office/drawing/2014/main" id="{248DB27B-F9EA-4F81-A746-7D57B768E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77" name="Freeform 34">
              <a:extLst>
                <a:ext uri="{FF2B5EF4-FFF2-40B4-BE49-F238E27FC236}">
                  <a16:creationId xmlns:a16="http://schemas.microsoft.com/office/drawing/2014/main" id="{998E5C90-2A81-4013-AE09-2023B4407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78" name="Freeform 35">
              <a:extLst>
                <a:ext uri="{FF2B5EF4-FFF2-40B4-BE49-F238E27FC236}">
                  <a16:creationId xmlns:a16="http://schemas.microsoft.com/office/drawing/2014/main" id="{86A8318B-7607-4519-8EEB-C7DD509653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79" name="Freeform 36">
              <a:extLst>
                <a:ext uri="{FF2B5EF4-FFF2-40B4-BE49-F238E27FC236}">
                  <a16:creationId xmlns:a16="http://schemas.microsoft.com/office/drawing/2014/main" id="{5009FB1B-4865-45DB-8727-F012E3ACA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80" name="Freeform 37">
              <a:extLst>
                <a:ext uri="{FF2B5EF4-FFF2-40B4-BE49-F238E27FC236}">
                  <a16:creationId xmlns:a16="http://schemas.microsoft.com/office/drawing/2014/main" id="{5B209B64-3A98-4B1A-857A-2368AFED6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81" name="Freeform 38">
              <a:extLst>
                <a:ext uri="{FF2B5EF4-FFF2-40B4-BE49-F238E27FC236}">
                  <a16:creationId xmlns:a16="http://schemas.microsoft.com/office/drawing/2014/main" id="{EB3B5D03-7AE3-411C-A820-6844E7D0C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83" name="Freeform 11">
            <a:extLst>
              <a:ext uri="{FF2B5EF4-FFF2-40B4-BE49-F238E27FC236}">
                <a16:creationId xmlns:a16="http://schemas.microsoft.com/office/drawing/2014/main" id="{91328346-8BAD-4616-B50B-5CFDA5648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8" y="3312741"/>
            <a:ext cx="820355" cy="499191"/>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p:nvSpPr>
          <p:cNvPr id="46" name="Content Placeholder 2">
            <a:extLst>
              <a:ext uri="{FF2B5EF4-FFF2-40B4-BE49-F238E27FC236}">
                <a16:creationId xmlns:a16="http://schemas.microsoft.com/office/drawing/2014/main" id="{CFD57016-0811-4A6C-99BA-453D7BAAA3C1}"/>
              </a:ext>
            </a:extLst>
          </p:cNvPr>
          <p:cNvSpPr>
            <a:spLocks noGrp="1"/>
          </p:cNvSpPr>
          <p:nvPr>
            <p:ph idx="1"/>
          </p:nvPr>
        </p:nvSpPr>
        <p:spPr>
          <a:xfrm>
            <a:off x="2581635" y="1358546"/>
            <a:ext cx="6074311" cy="3668316"/>
          </a:xfrm>
        </p:spPr>
        <p:txBody>
          <a:bodyPr>
            <a:noAutofit/>
          </a:bodyPr>
          <a:lstStyle/>
          <a:p>
            <a:pPr marL="0" indent="0" algn="just">
              <a:lnSpc>
                <a:spcPct val="90000"/>
              </a:lnSpc>
              <a:buNone/>
            </a:pPr>
            <a:r>
              <a:rPr lang="en-US" sz="1600" dirty="0">
                <a:latin typeface="Times New Roman" panose="02020603050405020304" pitchFamily="18" charset="0"/>
                <a:cs typeface="Times New Roman" panose="02020603050405020304" pitchFamily="18" charset="0"/>
              </a:rPr>
              <a:t>There are number of different criteria that should be considered in estimating the value of a proposed secrecy system. Some of them are: </a:t>
            </a:r>
          </a:p>
          <a:p>
            <a:pPr marL="514350" indent="-514350" algn="just">
              <a:lnSpc>
                <a:spcPct val="90000"/>
              </a:lnSpc>
              <a:buAutoNum type="arabicPeriod"/>
            </a:pPr>
            <a:r>
              <a:rPr lang="en-US" sz="1600" b="1" dirty="0">
                <a:latin typeface="Times New Roman" panose="02020603050405020304" pitchFamily="18" charset="0"/>
                <a:cs typeface="Times New Roman" panose="02020603050405020304" pitchFamily="18" charset="0"/>
              </a:rPr>
              <a:t>Amount of Secrecy. </a:t>
            </a:r>
          </a:p>
          <a:p>
            <a:pPr marL="514350" indent="-514350" algn="just">
              <a:lnSpc>
                <a:spcPct val="90000"/>
              </a:lnSpc>
              <a:buAutoNum type="arabicPeriod"/>
            </a:pPr>
            <a:r>
              <a:rPr lang="en-US" sz="1600" b="1" dirty="0">
                <a:latin typeface="Times New Roman" panose="02020603050405020304" pitchFamily="18" charset="0"/>
                <a:cs typeface="Times New Roman" panose="02020603050405020304" pitchFamily="18" charset="0"/>
              </a:rPr>
              <a:t>Size of Key. </a:t>
            </a:r>
          </a:p>
          <a:p>
            <a:pPr marL="514350" indent="-514350" algn="just">
              <a:lnSpc>
                <a:spcPct val="90000"/>
              </a:lnSpc>
              <a:buAutoNum type="arabicPeriod"/>
            </a:pPr>
            <a:r>
              <a:rPr lang="en-US" sz="1600" b="1" dirty="0">
                <a:latin typeface="Times New Roman" panose="02020603050405020304" pitchFamily="18" charset="0"/>
                <a:cs typeface="Times New Roman" panose="02020603050405020304" pitchFamily="18" charset="0"/>
              </a:rPr>
              <a:t>Expansion of Message. </a:t>
            </a:r>
          </a:p>
          <a:p>
            <a:pPr marL="0" indent="0" algn="just">
              <a:lnSpc>
                <a:spcPct val="90000"/>
              </a:lnSpc>
              <a:buNone/>
            </a:pPr>
            <a:endParaRPr lang="en-US" sz="1600" b="1" dirty="0">
              <a:latin typeface="Times New Roman" panose="02020603050405020304" pitchFamily="18" charset="0"/>
              <a:cs typeface="Times New Roman" panose="02020603050405020304" pitchFamily="18" charset="0"/>
            </a:endParaRPr>
          </a:p>
          <a:p>
            <a:pPr marL="0" indent="0" algn="just">
              <a:lnSpc>
                <a:spcPct val="90000"/>
              </a:lnSpc>
              <a:buNone/>
            </a:pPr>
            <a:r>
              <a:rPr lang="en-US" sz="1600" dirty="0">
                <a:latin typeface="Times New Roman" panose="02020603050405020304" pitchFamily="18" charset="0"/>
                <a:cs typeface="Times New Roman" panose="02020603050405020304" pitchFamily="18" charset="0"/>
              </a:rPr>
              <a:t>Security attacks from unknown:</a:t>
            </a:r>
          </a:p>
          <a:p>
            <a:pPr marL="342900" indent="-342900" algn="just">
              <a:lnSpc>
                <a:spcPct val="90000"/>
              </a:lnSpc>
              <a:buFont typeface="+mj-lt"/>
              <a:buAutoNum type="arabicPeriod"/>
            </a:pPr>
            <a:r>
              <a:rPr lang="en-IN" sz="1600" b="1" dirty="0">
                <a:latin typeface="Times New Roman" panose="02020603050405020304" pitchFamily="18" charset="0"/>
                <a:ea typeface="Calibri" panose="020F0502020204030204" pitchFamily="34" charset="0"/>
                <a:cs typeface="Times New Roman" panose="02020603050405020304" pitchFamily="18" charset="0"/>
              </a:rPr>
              <a:t>Ciphertext-just Attacks</a:t>
            </a:r>
            <a:endParaRPr lang="en-US" sz="1600" b="1" dirty="0">
              <a:latin typeface="Times New Roman" panose="02020603050405020304" pitchFamily="18" charset="0"/>
              <a:cs typeface="Times New Roman" panose="02020603050405020304" pitchFamily="18" charset="0"/>
            </a:endParaRPr>
          </a:p>
          <a:p>
            <a:pPr marL="342900" indent="-342900" algn="just">
              <a:lnSpc>
                <a:spcPct val="90000"/>
              </a:lnSpc>
              <a:buFont typeface="+mj-lt"/>
              <a:buAutoNum type="arabicPeriod"/>
            </a:pPr>
            <a:r>
              <a:rPr lang="en-IN" sz="1600" b="1" dirty="0">
                <a:latin typeface="Times New Roman" panose="02020603050405020304" pitchFamily="18" charset="0"/>
                <a:ea typeface="Calibri" panose="020F0502020204030204" pitchFamily="34" charset="0"/>
                <a:cs typeface="Times New Roman" panose="02020603050405020304" pitchFamily="18" charset="0"/>
              </a:rPr>
              <a:t>Known-plaintext Attacks</a:t>
            </a:r>
          </a:p>
          <a:p>
            <a:pPr marL="342900" indent="-342900" algn="just">
              <a:lnSpc>
                <a:spcPct val="90000"/>
              </a:lnSpc>
              <a:buFont typeface="+mj-lt"/>
              <a:buAutoNum type="arabicPeriod"/>
            </a:pPr>
            <a:r>
              <a:rPr lang="en-IN" sz="1600" b="1" dirty="0">
                <a:latin typeface="Times New Roman" panose="02020603050405020304" pitchFamily="18" charset="0"/>
                <a:ea typeface="Calibri" panose="020F0502020204030204" pitchFamily="34" charset="0"/>
                <a:cs typeface="Times New Roman" panose="02020603050405020304" pitchFamily="18" charset="0"/>
              </a:rPr>
              <a:t>Picked/Chosen plaintext Attacks</a:t>
            </a:r>
            <a:endParaRPr lang="en-US" sz="1600" b="1" dirty="0">
              <a:latin typeface="Times New Roman" panose="02020603050405020304" pitchFamily="18" charset="0"/>
              <a:cs typeface="Times New Roman" panose="02020603050405020304" pitchFamily="18" charset="0"/>
            </a:endParaRPr>
          </a:p>
          <a:p>
            <a:pPr marL="0" indent="0" algn="just">
              <a:lnSpc>
                <a:spcPct val="90000"/>
              </a:lnSpc>
              <a:buNone/>
            </a:pPr>
            <a:endParaRPr lang="en-US" sz="1600" dirty="0">
              <a:latin typeface="Times New Roman" panose="02020603050405020304" pitchFamily="18" charset="0"/>
              <a:cs typeface="Times New Roman" panose="02020603050405020304" pitchFamily="18" charset="0"/>
            </a:endParaRPr>
          </a:p>
          <a:p>
            <a:pPr marL="0" indent="0" algn="just">
              <a:lnSpc>
                <a:spcPct val="90000"/>
              </a:lnSpc>
              <a:buNone/>
            </a:pPr>
            <a:r>
              <a:rPr lang="en-US" sz="1600" dirty="0">
                <a:latin typeface="Times New Roman" panose="02020603050405020304" pitchFamily="18" charset="0"/>
                <a:cs typeface="Times New Roman" panose="02020603050405020304" pitchFamily="18" charset="0"/>
              </a:rPr>
              <a:t>Referred from: Communication Theory of Secrecy Systems By C. E. SHANNON </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3804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306B45-25EE-434D-ABA9-A27B7932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07486" cy="66595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ADFCE7-D1BC-449A-8CFD-4980A24D2F6A}"/>
              </a:ext>
            </a:extLst>
          </p:cNvPr>
          <p:cNvSpPr>
            <a:spLocks noGrp="1"/>
          </p:cNvSpPr>
          <p:nvPr>
            <p:ph type="title"/>
          </p:nvPr>
        </p:nvSpPr>
        <p:spPr>
          <a:xfrm>
            <a:off x="781381" y="914847"/>
            <a:ext cx="2432660" cy="4825331"/>
          </a:xfrm>
        </p:spPr>
        <p:txBody>
          <a:bodyPr anchor="ctr">
            <a:normAutofit/>
          </a:bodyPr>
          <a:lstStyle/>
          <a:p>
            <a:r>
              <a:rPr lang="en-US" b="1">
                <a:solidFill>
                  <a:schemeClr val="tx2">
                    <a:lumMod val="75000"/>
                  </a:schemeClr>
                </a:solidFill>
                <a:latin typeface="Times New Roman" panose="02020603050405020304" pitchFamily="18" charset="0"/>
                <a:cs typeface="Times New Roman" panose="02020603050405020304" pitchFamily="18" charset="0"/>
              </a:rPr>
              <a:t>HELPER</a:t>
            </a:r>
            <a:endParaRPr lang="en-IN" b="1">
              <a:solidFill>
                <a:schemeClr val="tx2">
                  <a:lumMod val="75000"/>
                </a:schemeClr>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A42F85E-4939-431E-8B4A-EC07C8E0A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6612" cy="665956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cxnSp>
        <p:nvCxnSpPr>
          <p:cNvPr id="12" name="Straight Connector 11">
            <a:extLst>
              <a:ext uri="{FF2B5EF4-FFF2-40B4-BE49-F238E27FC236}">
                <a16:creationId xmlns:a16="http://schemas.microsoft.com/office/drawing/2014/main" id="{27EBB3F9-D6F7-4F6A-8843-9FEBA15E49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76783" y="1817669"/>
            <a:ext cx="0" cy="3107796"/>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D2B17EF-74EB-4C33-B2E2-8E727B2E7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89494" y="0"/>
            <a:ext cx="4614228" cy="6654952"/>
            <a:chOff x="2487613" y="285750"/>
            <a:chExt cx="2428876" cy="5654676"/>
          </a:xfrm>
          <a:solidFill>
            <a:schemeClr val="bg1">
              <a:alpha val="30000"/>
            </a:schemeClr>
          </a:solidFill>
        </p:grpSpPr>
        <p:sp>
          <p:nvSpPr>
            <p:cNvPr id="15" name="Freeform 11">
              <a:extLst>
                <a:ext uri="{FF2B5EF4-FFF2-40B4-BE49-F238E27FC236}">
                  <a16:creationId xmlns:a16="http://schemas.microsoft.com/office/drawing/2014/main" id="{0A5F1F8A-3206-4B86-883F-65E98BB6E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16" name="Freeform 12">
              <a:extLst>
                <a:ext uri="{FF2B5EF4-FFF2-40B4-BE49-F238E27FC236}">
                  <a16:creationId xmlns:a16="http://schemas.microsoft.com/office/drawing/2014/main" id="{6935F8C7-CC88-4243-9786-F3CDBF04A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17" name="Freeform 13">
              <a:extLst>
                <a:ext uri="{FF2B5EF4-FFF2-40B4-BE49-F238E27FC236}">
                  <a16:creationId xmlns:a16="http://schemas.microsoft.com/office/drawing/2014/main" id="{9AF7BAD9-71B3-40D8-A089-EFF7FE67B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18" name="Freeform 14">
              <a:extLst>
                <a:ext uri="{FF2B5EF4-FFF2-40B4-BE49-F238E27FC236}">
                  <a16:creationId xmlns:a16="http://schemas.microsoft.com/office/drawing/2014/main" id="{6467094F-AEF0-4D3B-BB76-8B3C1F08B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19" name="Freeform 15">
              <a:extLst>
                <a:ext uri="{FF2B5EF4-FFF2-40B4-BE49-F238E27FC236}">
                  <a16:creationId xmlns:a16="http://schemas.microsoft.com/office/drawing/2014/main" id="{36F56AF9-DEF1-44E7-BF42-6AAC1AA9D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0" name="Freeform 16">
              <a:extLst>
                <a:ext uri="{FF2B5EF4-FFF2-40B4-BE49-F238E27FC236}">
                  <a16:creationId xmlns:a16="http://schemas.microsoft.com/office/drawing/2014/main" id="{A43EBE71-20BA-4A40-A513-516678089D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21" name="Freeform 17">
              <a:extLst>
                <a:ext uri="{FF2B5EF4-FFF2-40B4-BE49-F238E27FC236}">
                  <a16:creationId xmlns:a16="http://schemas.microsoft.com/office/drawing/2014/main" id="{1DB39648-7B38-4D0B-93C5-048EC4A45C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22" name="Freeform 18">
              <a:extLst>
                <a:ext uri="{FF2B5EF4-FFF2-40B4-BE49-F238E27FC236}">
                  <a16:creationId xmlns:a16="http://schemas.microsoft.com/office/drawing/2014/main" id="{8DD2661F-DE5F-45EA-B30B-7C6589638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23" name="Freeform 19">
              <a:extLst>
                <a:ext uri="{FF2B5EF4-FFF2-40B4-BE49-F238E27FC236}">
                  <a16:creationId xmlns:a16="http://schemas.microsoft.com/office/drawing/2014/main" id="{ABF0A0E5-E68E-4183-A913-228692FD8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24" name="Freeform 20">
              <a:extLst>
                <a:ext uri="{FF2B5EF4-FFF2-40B4-BE49-F238E27FC236}">
                  <a16:creationId xmlns:a16="http://schemas.microsoft.com/office/drawing/2014/main" id="{615D8F55-8ACD-4EFE-A832-06E78547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25" name="Freeform 21">
              <a:extLst>
                <a:ext uri="{FF2B5EF4-FFF2-40B4-BE49-F238E27FC236}">
                  <a16:creationId xmlns:a16="http://schemas.microsoft.com/office/drawing/2014/main" id="{0FDF4201-8CEC-474B-A6B1-88039B704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26" name="Freeform 22">
              <a:extLst>
                <a:ext uri="{FF2B5EF4-FFF2-40B4-BE49-F238E27FC236}">
                  <a16:creationId xmlns:a16="http://schemas.microsoft.com/office/drawing/2014/main" id="{0F60AEA4-B25F-417E-93FC-59686DFBE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sp>
        <p:nvSpPr>
          <p:cNvPr id="3" name="Content Placeholder 2">
            <a:extLst>
              <a:ext uri="{FF2B5EF4-FFF2-40B4-BE49-F238E27FC236}">
                <a16:creationId xmlns:a16="http://schemas.microsoft.com/office/drawing/2014/main" id="{13BD5DFC-BCE9-4603-9C1A-B32022CE84C0}"/>
              </a:ext>
            </a:extLst>
          </p:cNvPr>
          <p:cNvSpPr>
            <a:spLocks noGrp="1"/>
          </p:cNvSpPr>
          <p:nvPr>
            <p:ph idx="1"/>
          </p:nvPr>
        </p:nvSpPr>
        <p:spPr>
          <a:xfrm>
            <a:off x="3771675" y="914847"/>
            <a:ext cx="4822329" cy="4825332"/>
          </a:xfrm>
        </p:spPr>
        <p:txBody>
          <a:bodyPr anchor="ctr">
            <a:normAutofit/>
          </a:bodyPr>
          <a:lstStyle/>
          <a:p>
            <a:pPr marL="0" indent="0" algn="just">
              <a:lnSpc>
                <a:spcPct val="90000"/>
              </a:lnSpc>
              <a:buNone/>
            </a:pPr>
            <a:r>
              <a:rPr lang="en-US" sz="1600" dirty="0">
                <a:solidFill>
                  <a:schemeClr val="tx2">
                    <a:lumMod val="75000"/>
                  </a:schemeClr>
                </a:solidFill>
                <a:latin typeface="Times New Roman" panose="02020603050405020304" pitchFamily="18" charset="0"/>
                <a:cs typeface="Times New Roman" panose="02020603050405020304" pitchFamily="18" charset="0"/>
              </a:rPr>
              <a:t>The introduction of the helper is motivated by the role played by a “third party” which facilitates the generation of secret key by user terminals by furnishing them additional correlated information</a:t>
            </a:r>
          </a:p>
          <a:p>
            <a:pPr marL="0" indent="0" algn="just">
              <a:lnSpc>
                <a:spcPct val="90000"/>
              </a:lnSpc>
              <a:buNone/>
            </a:pPr>
            <a:r>
              <a:rPr lang="en-US" sz="1600" dirty="0">
                <a:solidFill>
                  <a:schemeClr val="tx2">
                    <a:lumMod val="75000"/>
                  </a:schemeClr>
                </a:solidFill>
                <a:latin typeface="Times New Roman" panose="02020603050405020304" pitchFamily="18" charset="0"/>
                <a:cs typeface="Times New Roman" panose="02020603050405020304" pitchFamily="18" charset="0"/>
              </a:rPr>
              <a:t>Also, the idea of a helper has potential significance for practical schemes for the generation of secret key by three or more user terminals, wherein the different users can take turns serving as helper in successive rounds of generation of secret key.</a:t>
            </a:r>
          </a:p>
          <a:p>
            <a:pPr marL="0" indent="0" algn="just">
              <a:lnSpc>
                <a:spcPct val="90000"/>
              </a:lnSpc>
              <a:buNone/>
            </a:pPr>
            <a:endParaRPr lang="en-US" sz="1600" dirty="0">
              <a:solidFill>
                <a:schemeClr val="tx2">
                  <a:lumMod val="75000"/>
                </a:schemeClr>
              </a:solidFill>
              <a:latin typeface="Times New Roman" panose="02020603050405020304" pitchFamily="18" charset="0"/>
              <a:cs typeface="Times New Roman" panose="02020603050405020304" pitchFamily="18" charset="0"/>
            </a:endParaRPr>
          </a:p>
          <a:p>
            <a:pPr marL="0" indent="0" algn="just">
              <a:lnSpc>
                <a:spcPct val="90000"/>
              </a:lnSpc>
              <a:buNone/>
            </a:pPr>
            <a:r>
              <a:rPr lang="en-US" sz="1600" dirty="0">
                <a:solidFill>
                  <a:schemeClr val="tx2">
                    <a:lumMod val="75000"/>
                  </a:schemeClr>
                </a:solidFill>
                <a:latin typeface="Times New Roman" panose="02020603050405020304" pitchFamily="18" charset="0"/>
                <a:cs typeface="Times New Roman" panose="02020603050405020304" pitchFamily="18" charset="0"/>
              </a:rPr>
              <a:t>Referred from:</a:t>
            </a:r>
          </a:p>
          <a:p>
            <a:pPr marL="0" indent="0" algn="just">
              <a:lnSpc>
                <a:spcPct val="90000"/>
              </a:lnSpc>
              <a:buNone/>
            </a:pPr>
            <a:r>
              <a:rPr lang="en-IN" sz="1600" dirty="0">
                <a:solidFill>
                  <a:schemeClr val="tx2">
                    <a:lumMod val="75000"/>
                  </a:schemeClr>
                </a:solidFill>
                <a:latin typeface="Times New Roman" panose="02020603050405020304" pitchFamily="18" charset="0"/>
                <a:cs typeface="Times New Roman" panose="02020603050405020304" pitchFamily="18" charset="0"/>
              </a:rPr>
              <a:t>IEEE TRANSACTIONS ON INFORMATION THEORY, VOL. 46, NO. 2, MARCH 2000 Common Randomness and Secret Key Generation with a Helper Imre Csiszár, Fellow, IEEE, and Prakash Narayan, Senior Member, IEEE</a:t>
            </a:r>
          </a:p>
        </p:txBody>
      </p:sp>
    </p:spTree>
    <p:extLst>
      <p:ext uri="{BB962C8B-B14F-4D97-AF65-F5344CB8AC3E}">
        <p14:creationId xmlns:p14="http://schemas.microsoft.com/office/powerpoint/2010/main" val="3920522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45" name="Rectangle 7">
            <a:extLst>
              <a:ext uri="{FF2B5EF4-FFF2-40B4-BE49-F238E27FC236}">
                <a16:creationId xmlns:a16="http://schemas.microsoft.com/office/drawing/2014/main" id="{0A46F010-D160-4609-8979-FFD8C1EA6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07486" cy="66595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9">
            <a:extLst>
              <a:ext uri="{FF2B5EF4-FFF2-40B4-BE49-F238E27FC236}">
                <a16:creationId xmlns:a16="http://schemas.microsoft.com/office/drawing/2014/main" id="{81B8C4F6-C3AC-4C94-8EC7-E4F7B7E9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130097" cy="66595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11">
            <a:extLst>
              <a:ext uri="{FF2B5EF4-FFF2-40B4-BE49-F238E27FC236}">
                <a16:creationId xmlns:a16="http://schemas.microsoft.com/office/drawing/2014/main" id="{0B789310-9859-4942-98C8-3D2F12AAA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21986"/>
            <a:ext cx="2130098" cy="6446541"/>
            <a:chOff x="2487613" y="285750"/>
            <a:chExt cx="2428875" cy="5654676"/>
          </a:xfrm>
          <a:solidFill>
            <a:schemeClr val="tx2">
              <a:lumMod val="60000"/>
              <a:lumOff val="40000"/>
              <a:alpha val="40000"/>
            </a:schemeClr>
          </a:solidFill>
        </p:grpSpPr>
        <p:sp>
          <p:nvSpPr>
            <p:cNvPr id="13" name="Freeform 11">
              <a:extLst>
                <a:ext uri="{FF2B5EF4-FFF2-40B4-BE49-F238E27FC236}">
                  <a16:creationId xmlns:a16="http://schemas.microsoft.com/office/drawing/2014/main" id="{FE9E5460-2AA9-4786-B69C-23DBEF356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48" name="Freeform 12">
              <a:extLst>
                <a:ext uri="{FF2B5EF4-FFF2-40B4-BE49-F238E27FC236}">
                  <a16:creationId xmlns:a16="http://schemas.microsoft.com/office/drawing/2014/main" id="{E344A2AF-3860-4427-B13E-98021C17A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15" name="Freeform 13">
              <a:extLst>
                <a:ext uri="{FF2B5EF4-FFF2-40B4-BE49-F238E27FC236}">
                  <a16:creationId xmlns:a16="http://schemas.microsoft.com/office/drawing/2014/main" id="{DDBDD44E-1DC0-48AB-8FEC-E098D9197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16" name="Freeform 14">
              <a:extLst>
                <a:ext uri="{FF2B5EF4-FFF2-40B4-BE49-F238E27FC236}">
                  <a16:creationId xmlns:a16="http://schemas.microsoft.com/office/drawing/2014/main" id="{3151FF3E-5E3F-4D82-A684-0003BACEA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17" name="Freeform 15">
              <a:extLst>
                <a:ext uri="{FF2B5EF4-FFF2-40B4-BE49-F238E27FC236}">
                  <a16:creationId xmlns:a16="http://schemas.microsoft.com/office/drawing/2014/main" id="{C6CBF27E-7F0C-4489-95A7-82DE1C046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18" name="Freeform 16">
              <a:extLst>
                <a:ext uri="{FF2B5EF4-FFF2-40B4-BE49-F238E27FC236}">
                  <a16:creationId xmlns:a16="http://schemas.microsoft.com/office/drawing/2014/main" id="{233BE304-221E-425E-A484-4B2E5F405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19" name="Freeform 17">
              <a:extLst>
                <a:ext uri="{FF2B5EF4-FFF2-40B4-BE49-F238E27FC236}">
                  <a16:creationId xmlns:a16="http://schemas.microsoft.com/office/drawing/2014/main" id="{10D5734E-EAEA-4A08-86A9-39BD5563E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20" name="Freeform 18">
              <a:extLst>
                <a:ext uri="{FF2B5EF4-FFF2-40B4-BE49-F238E27FC236}">
                  <a16:creationId xmlns:a16="http://schemas.microsoft.com/office/drawing/2014/main" id="{4D47FE86-98D1-4E35-86E4-16E9A19A6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21" name="Freeform 19">
              <a:extLst>
                <a:ext uri="{FF2B5EF4-FFF2-40B4-BE49-F238E27FC236}">
                  <a16:creationId xmlns:a16="http://schemas.microsoft.com/office/drawing/2014/main" id="{F00661F9-B224-4DB1-8EFB-ABF9402BD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22" name="Freeform 20">
              <a:extLst>
                <a:ext uri="{FF2B5EF4-FFF2-40B4-BE49-F238E27FC236}">
                  <a16:creationId xmlns:a16="http://schemas.microsoft.com/office/drawing/2014/main" id="{679DCB4E-8D36-4B7A-AF0C-8399F113A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23" name="Freeform 21">
              <a:extLst>
                <a:ext uri="{FF2B5EF4-FFF2-40B4-BE49-F238E27FC236}">
                  <a16:creationId xmlns:a16="http://schemas.microsoft.com/office/drawing/2014/main" id="{4FAD51F6-D24C-4FD6-BEAE-41F0E5A82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24" name="Freeform 22">
              <a:extLst>
                <a:ext uri="{FF2B5EF4-FFF2-40B4-BE49-F238E27FC236}">
                  <a16:creationId xmlns:a16="http://schemas.microsoft.com/office/drawing/2014/main" id="{87AC773F-6D31-458A-9DD7-76566C8A9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26" name="Group 25">
            <a:extLst>
              <a:ext uri="{FF2B5EF4-FFF2-40B4-BE49-F238E27FC236}">
                <a16:creationId xmlns:a16="http://schemas.microsoft.com/office/drawing/2014/main" id="{6F1CEC7A-E419-4950-AA57-B00546C29C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324" y="-763"/>
            <a:ext cx="1760444" cy="6655715"/>
            <a:chOff x="6627813" y="194833"/>
            <a:chExt cx="1952625" cy="5678918"/>
          </a:xfrm>
          <a:solidFill>
            <a:schemeClr val="tx2">
              <a:lumMod val="75000"/>
              <a:alpha val="70000"/>
            </a:schemeClr>
          </a:solidFill>
        </p:grpSpPr>
        <p:sp>
          <p:nvSpPr>
            <p:cNvPr id="27" name="Freeform 27">
              <a:extLst>
                <a:ext uri="{FF2B5EF4-FFF2-40B4-BE49-F238E27FC236}">
                  <a16:creationId xmlns:a16="http://schemas.microsoft.com/office/drawing/2014/main" id="{7AE7DCD1-5235-45E8-B229-15A3E3962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28" name="Freeform 28">
              <a:extLst>
                <a:ext uri="{FF2B5EF4-FFF2-40B4-BE49-F238E27FC236}">
                  <a16:creationId xmlns:a16="http://schemas.microsoft.com/office/drawing/2014/main" id="{C82E58C3-65A5-4079-BF94-E675AA410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29" name="Freeform 29">
              <a:extLst>
                <a:ext uri="{FF2B5EF4-FFF2-40B4-BE49-F238E27FC236}">
                  <a16:creationId xmlns:a16="http://schemas.microsoft.com/office/drawing/2014/main" id="{7AABE1FA-6DC8-4A47-AC5C-F05B9C111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30" name="Freeform 30">
              <a:extLst>
                <a:ext uri="{FF2B5EF4-FFF2-40B4-BE49-F238E27FC236}">
                  <a16:creationId xmlns:a16="http://schemas.microsoft.com/office/drawing/2014/main" id="{17BB7298-8900-4C67-B800-BD241F019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31" name="Freeform 31">
              <a:extLst>
                <a:ext uri="{FF2B5EF4-FFF2-40B4-BE49-F238E27FC236}">
                  <a16:creationId xmlns:a16="http://schemas.microsoft.com/office/drawing/2014/main" id="{EE3442F8-53C2-490C-94EF-E423ECB95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32" name="Freeform 32">
              <a:extLst>
                <a:ext uri="{FF2B5EF4-FFF2-40B4-BE49-F238E27FC236}">
                  <a16:creationId xmlns:a16="http://schemas.microsoft.com/office/drawing/2014/main" id="{3DBEA916-8B10-493A-8CBF-9B5FA2A4A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33" name="Freeform 33">
              <a:extLst>
                <a:ext uri="{FF2B5EF4-FFF2-40B4-BE49-F238E27FC236}">
                  <a16:creationId xmlns:a16="http://schemas.microsoft.com/office/drawing/2014/main" id="{248DB27B-F9EA-4F81-A746-7D57B768E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34" name="Freeform 34">
              <a:extLst>
                <a:ext uri="{FF2B5EF4-FFF2-40B4-BE49-F238E27FC236}">
                  <a16:creationId xmlns:a16="http://schemas.microsoft.com/office/drawing/2014/main" id="{998E5C90-2A81-4013-AE09-2023B4407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35" name="Freeform 35">
              <a:extLst>
                <a:ext uri="{FF2B5EF4-FFF2-40B4-BE49-F238E27FC236}">
                  <a16:creationId xmlns:a16="http://schemas.microsoft.com/office/drawing/2014/main" id="{86A8318B-7607-4519-8EEB-C7DD509653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36" name="Freeform 36">
              <a:extLst>
                <a:ext uri="{FF2B5EF4-FFF2-40B4-BE49-F238E27FC236}">
                  <a16:creationId xmlns:a16="http://schemas.microsoft.com/office/drawing/2014/main" id="{5009FB1B-4865-45DB-8727-F012E3ACA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37" name="Freeform 37">
              <a:extLst>
                <a:ext uri="{FF2B5EF4-FFF2-40B4-BE49-F238E27FC236}">
                  <a16:creationId xmlns:a16="http://schemas.microsoft.com/office/drawing/2014/main" id="{5B209B64-3A98-4B1A-857A-2368AFED6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38" name="Freeform 38">
              <a:extLst>
                <a:ext uri="{FF2B5EF4-FFF2-40B4-BE49-F238E27FC236}">
                  <a16:creationId xmlns:a16="http://schemas.microsoft.com/office/drawing/2014/main" id="{EB3B5D03-7AE3-411C-A820-6844E7D0C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40" name="Freeform 11">
            <a:extLst>
              <a:ext uri="{FF2B5EF4-FFF2-40B4-BE49-F238E27FC236}">
                <a16:creationId xmlns:a16="http://schemas.microsoft.com/office/drawing/2014/main" id="{91328346-8BAD-4616-B50B-5CFDA5648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8" y="3312741"/>
            <a:ext cx="820355" cy="499191"/>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p:nvSpPr>
          <p:cNvPr id="3" name="Content Placeholder 2">
            <a:extLst>
              <a:ext uri="{FF2B5EF4-FFF2-40B4-BE49-F238E27FC236}">
                <a16:creationId xmlns:a16="http://schemas.microsoft.com/office/drawing/2014/main" id="{7AF4EA2C-E095-46E4-9E3F-C5ABD594BE2A}"/>
              </a:ext>
            </a:extLst>
          </p:cNvPr>
          <p:cNvSpPr>
            <a:spLocks noGrp="1"/>
          </p:cNvSpPr>
          <p:nvPr>
            <p:ph idx="1"/>
          </p:nvPr>
        </p:nvSpPr>
        <p:spPr>
          <a:xfrm>
            <a:off x="2454012" y="1231039"/>
            <a:ext cx="6074311" cy="3668316"/>
          </a:xfrm>
        </p:spPr>
        <p:txBody>
          <a:bodyPr>
            <a:noAutofit/>
          </a:bodyPr>
          <a:lstStyle/>
          <a:p>
            <a:pPr algn="just">
              <a:lnSpc>
                <a:spcPct val="9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 In symmetric key generation, model 1a with a trusted helper </a:t>
            </a:r>
          </a:p>
          <a:p>
            <a:pPr marL="0" indent="0" algn="just">
              <a:lnSpc>
                <a:spcPct val="90000"/>
              </a:lnSpc>
              <a:buNone/>
            </a:pPr>
            <a:r>
              <a:rPr lang="en-US" sz="1400" b="1" dirty="0">
                <a:latin typeface="Times New Roman" panose="02020603050405020304" pitchFamily="18" charset="0"/>
                <a:cs typeface="Times New Roman" panose="02020603050405020304" pitchFamily="18" charset="0"/>
              </a:rPr>
              <a:t>       requires that the two keys are hidden from the eavesdropper. </a:t>
            </a:r>
          </a:p>
          <a:p>
            <a:pPr algn="just">
              <a:lnSpc>
                <a:spcPct val="9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 In symmetric key generation, model 1b with an untrusted </a:t>
            </a:r>
          </a:p>
          <a:p>
            <a:pPr marL="0" indent="0" algn="just">
              <a:lnSpc>
                <a:spcPct val="90000"/>
              </a:lnSpc>
              <a:buNone/>
            </a:pPr>
            <a:r>
              <a:rPr lang="en-US" sz="1400" b="1" dirty="0">
                <a:latin typeface="Times New Roman" panose="02020603050405020304" pitchFamily="18" charset="0"/>
                <a:cs typeface="Times New Roman" panose="02020603050405020304" pitchFamily="18" charset="0"/>
              </a:rPr>
              <a:t>       helper further requires that the two keys are hidden from </a:t>
            </a:r>
          </a:p>
          <a:p>
            <a:pPr marL="0" indent="0" algn="just">
              <a:lnSpc>
                <a:spcPct val="90000"/>
              </a:lnSpc>
              <a:buNone/>
            </a:pPr>
            <a:r>
              <a:rPr lang="en-US" sz="1400" b="1" dirty="0">
                <a:latin typeface="Times New Roman" panose="02020603050405020304" pitchFamily="18" charset="0"/>
                <a:cs typeface="Times New Roman" panose="02020603050405020304" pitchFamily="18" charset="0"/>
              </a:rPr>
              <a:t>       the helper in addition to the eavesdropper.</a:t>
            </a:r>
          </a:p>
          <a:p>
            <a:pPr algn="just">
              <a:lnSpc>
                <a:spcPct val="9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 The asymmetric key generation models 2a and 2b are same   </a:t>
            </a:r>
          </a:p>
          <a:p>
            <a:pPr marL="0" indent="0" algn="just">
              <a:lnSpc>
                <a:spcPct val="90000"/>
              </a:lnSpc>
              <a:buNone/>
            </a:pPr>
            <a:r>
              <a:rPr lang="en-US" sz="1400" b="1" dirty="0">
                <a:latin typeface="Times New Roman" panose="02020603050405020304" pitchFamily="18" charset="0"/>
                <a:cs typeface="Times New Roman" panose="02020603050405020304" pitchFamily="18" charset="0"/>
              </a:rPr>
              <a:t>       as symmetric key generation models 1a and 1b, respectively, </a:t>
            </a:r>
          </a:p>
          <a:p>
            <a:pPr marL="0" indent="0" algn="just">
              <a:lnSpc>
                <a:spcPct val="90000"/>
              </a:lnSpc>
              <a:buNone/>
            </a:pPr>
            <a:r>
              <a:rPr lang="en-US" sz="1400" b="1" dirty="0">
                <a:latin typeface="Times New Roman" panose="02020603050405020304" pitchFamily="18" charset="0"/>
                <a:cs typeface="Times New Roman" panose="02020603050405020304" pitchFamily="18" charset="0"/>
              </a:rPr>
              <a:t>       except that the key K2 is further required to be hidden from </a:t>
            </a:r>
          </a:p>
          <a:p>
            <a:pPr marL="0" indent="0" algn="just">
              <a:lnSpc>
                <a:spcPct val="90000"/>
              </a:lnSpc>
              <a:buNone/>
            </a:pPr>
            <a:r>
              <a:rPr lang="en-US" sz="1400" b="1" dirty="0">
                <a:latin typeface="Times New Roman" panose="02020603050405020304" pitchFamily="18" charset="0"/>
                <a:cs typeface="Times New Roman" panose="02020603050405020304" pitchFamily="18" charset="0"/>
              </a:rPr>
              <a:t>       terminal X1. </a:t>
            </a:r>
          </a:p>
          <a:p>
            <a:pPr algn="just">
              <a:lnSpc>
                <a:spcPct val="90000"/>
              </a:lnSpc>
              <a:buFont typeface="Wingdings" panose="05000000000000000000" pitchFamily="2" charset="2"/>
              <a:buChar char="v"/>
            </a:pPr>
            <a:r>
              <a:rPr lang="en-US" sz="1400" b="1" dirty="0">
                <a:latin typeface="Times New Roman" panose="02020603050405020304" pitchFamily="18" charset="0"/>
                <a:cs typeface="Times New Roman" panose="02020603050405020304" pitchFamily="18" charset="0"/>
              </a:rPr>
              <a:t> For all models studied, the key capacity region is established </a:t>
            </a:r>
          </a:p>
          <a:p>
            <a:pPr marL="0" indent="0" algn="just">
              <a:lnSpc>
                <a:spcPct val="90000"/>
              </a:lnSpc>
              <a:buNone/>
            </a:pPr>
            <a:r>
              <a:rPr lang="en-US" sz="1400" b="1" dirty="0">
                <a:latin typeface="Times New Roman" panose="02020603050405020304" pitchFamily="18" charset="0"/>
                <a:cs typeface="Times New Roman" panose="02020603050405020304" pitchFamily="18" charset="0"/>
              </a:rPr>
              <a:t>       by designing a unified achievable strategy to achieve the   </a:t>
            </a:r>
          </a:p>
          <a:p>
            <a:pPr marL="0" indent="0" algn="just">
              <a:lnSpc>
                <a:spcPct val="90000"/>
              </a:lnSpc>
              <a:buNone/>
            </a:pPr>
            <a:r>
              <a:rPr lang="en-US" sz="1400" b="1" dirty="0">
                <a:latin typeface="Times New Roman" panose="02020603050405020304" pitchFamily="18" charset="0"/>
                <a:cs typeface="Times New Roman" panose="02020603050405020304" pitchFamily="18" charset="0"/>
              </a:rPr>
              <a:t>       cut-set outer bounds.</a:t>
            </a:r>
            <a:endParaRPr lang="en-IN"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171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306B45-25EE-434D-ABA9-A27B7932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07486" cy="66595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7C0BB6-F275-4BCB-AD8E-0FAA1BD67DD3}"/>
              </a:ext>
            </a:extLst>
          </p:cNvPr>
          <p:cNvSpPr>
            <a:spLocks noGrp="1"/>
          </p:cNvSpPr>
          <p:nvPr>
            <p:ph type="title"/>
          </p:nvPr>
        </p:nvSpPr>
        <p:spPr>
          <a:xfrm>
            <a:off x="781381" y="914847"/>
            <a:ext cx="2432660" cy="4825331"/>
          </a:xfrm>
        </p:spPr>
        <p:txBody>
          <a:bodyPr anchor="ctr">
            <a:normAutofit/>
          </a:bodyPr>
          <a:lstStyle/>
          <a:p>
            <a:r>
              <a:rPr lang="en-US" sz="3000" b="1">
                <a:solidFill>
                  <a:schemeClr val="tx2">
                    <a:lumMod val="75000"/>
                  </a:schemeClr>
                </a:solidFill>
                <a:latin typeface="Times New Roman" panose="02020603050405020304" pitchFamily="18" charset="0"/>
                <a:cs typeface="Times New Roman" panose="02020603050405020304" pitchFamily="18" charset="0"/>
              </a:rPr>
              <a:t>WEAK POINTS (LIMITS OF PREVIOUS RESEARCH)</a:t>
            </a:r>
            <a:endParaRPr lang="en-IN" sz="3000" b="1">
              <a:solidFill>
                <a:schemeClr val="tx2">
                  <a:lumMod val="75000"/>
                </a:schemeClr>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A42F85E-4939-431E-8B4A-EC07C8E0A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6612" cy="665956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cxnSp>
        <p:nvCxnSpPr>
          <p:cNvPr id="12" name="Straight Connector 11">
            <a:extLst>
              <a:ext uri="{FF2B5EF4-FFF2-40B4-BE49-F238E27FC236}">
                <a16:creationId xmlns:a16="http://schemas.microsoft.com/office/drawing/2014/main" id="{27EBB3F9-D6F7-4F6A-8843-9FEBA15E49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76783" y="1817669"/>
            <a:ext cx="0" cy="3107796"/>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D2B17EF-74EB-4C33-B2E2-8E727B2E7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89494" y="0"/>
            <a:ext cx="4614228" cy="6654952"/>
            <a:chOff x="2487613" y="285750"/>
            <a:chExt cx="2428876" cy="5654676"/>
          </a:xfrm>
          <a:solidFill>
            <a:schemeClr val="bg1">
              <a:alpha val="30000"/>
            </a:schemeClr>
          </a:solidFill>
        </p:grpSpPr>
        <p:sp>
          <p:nvSpPr>
            <p:cNvPr id="15" name="Freeform 11">
              <a:extLst>
                <a:ext uri="{FF2B5EF4-FFF2-40B4-BE49-F238E27FC236}">
                  <a16:creationId xmlns:a16="http://schemas.microsoft.com/office/drawing/2014/main" id="{0A5F1F8A-3206-4B86-883F-65E98BB6E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16" name="Freeform 12">
              <a:extLst>
                <a:ext uri="{FF2B5EF4-FFF2-40B4-BE49-F238E27FC236}">
                  <a16:creationId xmlns:a16="http://schemas.microsoft.com/office/drawing/2014/main" id="{6935F8C7-CC88-4243-9786-F3CDBF04A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17" name="Freeform 13">
              <a:extLst>
                <a:ext uri="{FF2B5EF4-FFF2-40B4-BE49-F238E27FC236}">
                  <a16:creationId xmlns:a16="http://schemas.microsoft.com/office/drawing/2014/main" id="{9AF7BAD9-71B3-40D8-A089-EFF7FE67B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18" name="Freeform 14">
              <a:extLst>
                <a:ext uri="{FF2B5EF4-FFF2-40B4-BE49-F238E27FC236}">
                  <a16:creationId xmlns:a16="http://schemas.microsoft.com/office/drawing/2014/main" id="{6467094F-AEF0-4D3B-BB76-8B3C1F08B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19" name="Freeform 15">
              <a:extLst>
                <a:ext uri="{FF2B5EF4-FFF2-40B4-BE49-F238E27FC236}">
                  <a16:creationId xmlns:a16="http://schemas.microsoft.com/office/drawing/2014/main" id="{36F56AF9-DEF1-44E7-BF42-6AAC1AA9D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0" name="Freeform 16">
              <a:extLst>
                <a:ext uri="{FF2B5EF4-FFF2-40B4-BE49-F238E27FC236}">
                  <a16:creationId xmlns:a16="http://schemas.microsoft.com/office/drawing/2014/main" id="{A43EBE71-20BA-4A40-A513-516678089D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21" name="Freeform 17">
              <a:extLst>
                <a:ext uri="{FF2B5EF4-FFF2-40B4-BE49-F238E27FC236}">
                  <a16:creationId xmlns:a16="http://schemas.microsoft.com/office/drawing/2014/main" id="{1DB39648-7B38-4D0B-93C5-048EC4A45C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22" name="Freeform 18">
              <a:extLst>
                <a:ext uri="{FF2B5EF4-FFF2-40B4-BE49-F238E27FC236}">
                  <a16:creationId xmlns:a16="http://schemas.microsoft.com/office/drawing/2014/main" id="{8DD2661F-DE5F-45EA-B30B-7C6589638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23" name="Freeform 19">
              <a:extLst>
                <a:ext uri="{FF2B5EF4-FFF2-40B4-BE49-F238E27FC236}">
                  <a16:creationId xmlns:a16="http://schemas.microsoft.com/office/drawing/2014/main" id="{ABF0A0E5-E68E-4183-A913-228692FD8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24" name="Freeform 20">
              <a:extLst>
                <a:ext uri="{FF2B5EF4-FFF2-40B4-BE49-F238E27FC236}">
                  <a16:creationId xmlns:a16="http://schemas.microsoft.com/office/drawing/2014/main" id="{615D8F55-8ACD-4EFE-A832-06E78547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25" name="Freeform 21">
              <a:extLst>
                <a:ext uri="{FF2B5EF4-FFF2-40B4-BE49-F238E27FC236}">
                  <a16:creationId xmlns:a16="http://schemas.microsoft.com/office/drawing/2014/main" id="{0FDF4201-8CEC-474B-A6B1-88039B704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26" name="Freeform 22">
              <a:extLst>
                <a:ext uri="{FF2B5EF4-FFF2-40B4-BE49-F238E27FC236}">
                  <a16:creationId xmlns:a16="http://schemas.microsoft.com/office/drawing/2014/main" id="{0F60AEA4-B25F-417E-93FC-59686DFBE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sp>
        <p:nvSpPr>
          <p:cNvPr id="3" name="Content Placeholder 2">
            <a:extLst>
              <a:ext uri="{FF2B5EF4-FFF2-40B4-BE49-F238E27FC236}">
                <a16:creationId xmlns:a16="http://schemas.microsoft.com/office/drawing/2014/main" id="{89E103FB-59F3-4511-9F3F-1B0AB28624FE}"/>
              </a:ext>
            </a:extLst>
          </p:cNvPr>
          <p:cNvSpPr>
            <a:spLocks noGrp="1"/>
          </p:cNvSpPr>
          <p:nvPr>
            <p:ph idx="1"/>
          </p:nvPr>
        </p:nvSpPr>
        <p:spPr>
          <a:xfrm>
            <a:off x="3771675" y="914847"/>
            <a:ext cx="4822329" cy="4825332"/>
          </a:xfrm>
        </p:spPr>
        <p:txBody>
          <a:bodyPr anchor="ctr">
            <a:normAutofit/>
          </a:bodyPr>
          <a:lstStyle/>
          <a:p>
            <a:pPr algn="just"/>
            <a:r>
              <a:rPr lang="en-US" sz="1600" dirty="0">
                <a:solidFill>
                  <a:schemeClr val="tx2">
                    <a:lumMod val="75000"/>
                  </a:schemeClr>
                </a:solidFill>
                <a:latin typeface="Times New Roman" panose="02020603050405020304" pitchFamily="18" charset="0"/>
                <a:cs typeface="Times New Roman" panose="02020603050405020304" pitchFamily="18" charset="0"/>
              </a:rPr>
              <a:t>Although the key capacity region for the three-terminal model was shown to be equal to the cut-set bound, it is not clear at the outset whether the cut-set bound can still be achieved for models with different secrecy requirements and for four-terminal models with an additional helper. </a:t>
            </a:r>
          </a:p>
          <a:p>
            <a:pPr algn="just"/>
            <a:r>
              <a:rPr lang="en-US" sz="1600" dirty="0">
                <a:solidFill>
                  <a:schemeClr val="tx2">
                    <a:lumMod val="75000"/>
                  </a:schemeClr>
                </a:solidFill>
                <a:latin typeface="Times New Roman" panose="02020603050405020304" pitchFamily="18" charset="0"/>
                <a:cs typeface="Times New Roman" panose="02020603050405020304" pitchFamily="18" charset="0"/>
              </a:rPr>
              <a:t>For the three-terminal model, there are three cuts for generating two keys, and schemes can be designed to achieve corner points of the cut-set bound for each case of the source distribution. </a:t>
            </a:r>
          </a:p>
          <a:p>
            <a:pPr algn="just"/>
            <a:r>
              <a:rPr lang="en-US" sz="1600" dirty="0">
                <a:solidFill>
                  <a:schemeClr val="tx2">
                    <a:lumMod val="75000"/>
                  </a:schemeClr>
                </a:solidFill>
                <a:latin typeface="Times New Roman" panose="02020603050405020304" pitchFamily="18" charset="0"/>
                <a:cs typeface="Times New Roman" panose="02020603050405020304" pitchFamily="18" charset="0"/>
              </a:rPr>
              <a:t>However, for four-terminal models with a helper, there are six cuts for generating two keys, and these six cuts yield eight possible cases of the cut-set bound due to different source distributions. It is not clear whether there exists a unified design of schemes to achieve the cut-set bound for all cases.</a:t>
            </a:r>
            <a:endParaRPr lang="en-IN" sz="1600" dirty="0">
              <a:solidFill>
                <a:schemeClr val="tx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157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306B45-25EE-434D-ABA9-A27B7932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07486" cy="66595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7C0BB6-F275-4BCB-AD8E-0FAA1BD67DD3}"/>
              </a:ext>
            </a:extLst>
          </p:cNvPr>
          <p:cNvSpPr>
            <a:spLocks noGrp="1"/>
          </p:cNvSpPr>
          <p:nvPr>
            <p:ph type="title"/>
          </p:nvPr>
        </p:nvSpPr>
        <p:spPr>
          <a:xfrm>
            <a:off x="781381" y="914847"/>
            <a:ext cx="2432660" cy="4825331"/>
          </a:xfrm>
        </p:spPr>
        <p:txBody>
          <a:bodyPr anchor="ctr">
            <a:normAutofit/>
          </a:bodyPr>
          <a:lstStyle/>
          <a:p>
            <a:r>
              <a:rPr lang="en-US" sz="2700" b="1" dirty="0">
                <a:solidFill>
                  <a:schemeClr val="tx2">
                    <a:lumMod val="75000"/>
                  </a:schemeClr>
                </a:solidFill>
                <a:latin typeface="Times New Roman" panose="02020603050405020304" pitchFamily="18" charset="0"/>
                <a:cs typeface="Times New Roman" panose="02020603050405020304" pitchFamily="18" charset="0"/>
              </a:rPr>
              <a:t>STRONG  POINTS(NEW ABOUT THE RESULTS)</a:t>
            </a:r>
            <a:endParaRPr lang="en-IN" sz="2700" b="1"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A42F85E-4939-431E-8B4A-EC07C8E0A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6612" cy="665956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cxnSp>
        <p:nvCxnSpPr>
          <p:cNvPr id="12" name="Straight Connector 11">
            <a:extLst>
              <a:ext uri="{FF2B5EF4-FFF2-40B4-BE49-F238E27FC236}">
                <a16:creationId xmlns:a16="http://schemas.microsoft.com/office/drawing/2014/main" id="{27EBB3F9-D6F7-4F6A-8843-9FEBA15E49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76783" y="1817669"/>
            <a:ext cx="0" cy="3107796"/>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D2B17EF-74EB-4C33-B2E2-8E727B2E7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89494" y="0"/>
            <a:ext cx="4614228" cy="6654952"/>
            <a:chOff x="2487613" y="285750"/>
            <a:chExt cx="2428876" cy="5654676"/>
          </a:xfrm>
          <a:solidFill>
            <a:schemeClr val="bg1">
              <a:alpha val="30000"/>
            </a:schemeClr>
          </a:solidFill>
        </p:grpSpPr>
        <p:sp>
          <p:nvSpPr>
            <p:cNvPr id="15" name="Freeform 11">
              <a:extLst>
                <a:ext uri="{FF2B5EF4-FFF2-40B4-BE49-F238E27FC236}">
                  <a16:creationId xmlns:a16="http://schemas.microsoft.com/office/drawing/2014/main" id="{0A5F1F8A-3206-4B86-883F-65E98BB6E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16" name="Freeform 12">
              <a:extLst>
                <a:ext uri="{FF2B5EF4-FFF2-40B4-BE49-F238E27FC236}">
                  <a16:creationId xmlns:a16="http://schemas.microsoft.com/office/drawing/2014/main" id="{6935F8C7-CC88-4243-9786-F3CDBF04A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17" name="Freeform 13">
              <a:extLst>
                <a:ext uri="{FF2B5EF4-FFF2-40B4-BE49-F238E27FC236}">
                  <a16:creationId xmlns:a16="http://schemas.microsoft.com/office/drawing/2014/main" id="{9AF7BAD9-71B3-40D8-A089-EFF7FE67B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18" name="Freeform 14">
              <a:extLst>
                <a:ext uri="{FF2B5EF4-FFF2-40B4-BE49-F238E27FC236}">
                  <a16:creationId xmlns:a16="http://schemas.microsoft.com/office/drawing/2014/main" id="{6467094F-AEF0-4D3B-BB76-8B3C1F08B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19" name="Freeform 15">
              <a:extLst>
                <a:ext uri="{FF2B5EF4-FFF2-40B4-BE49-F238E27FC236}">
                  <a16:creationId xmlns:a16="http://schemas.microsoft.com/office/drawing/2014/main" id="{36F56AF9-DEF1-44E7-BF42-6AAC1AA9D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0" name="Freeform 16">
              <a:extLst>
                <a:ext uri="{FF2B5EF4-FFF2-40B4-BE49-F238E27FC236}">
                  <a16:creationId xmlns:a16="http://schemas.microsoft.com/office/drawing/2014/main" id="{A43EBE71-20BA-4A40-A513-516678089D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21" name="Freeform 17">
              <a:extLst>
                <a:ext uri="{FF2B5EF4-FFF2-40B4-BE49-F238E27FC236}">
                  <a16:creationId xmlns:a16="http://schemas.microsoft.com/office/drawing/2014/main" id="{1DB39648-7B38-4D0B-93C5-048EC4A45C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22" name="Freeform 18">
              <a:extLst>
                <a:ext uri="{FF2B5EF4-FFF2-40B4-BE49-F238E27FC236}">
                  <a16:creationId xmlns:a16="http://schemas.microsoft.com/office/drawing/2014/main" id="{8DD2661F-DE5F-45EA-B30B-7C6589638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23" name="Freeform 19">
              <a:extLst>
                <a:ext uri="{FF2B5EF4-FFF2-40B4-BE49-F238E27FC236}">
                  <a16:creationId xmlns:a16="http://schemas.microsoft.com/office/drawing/2014/main" id="{ABF0A0E5-E68E-4183-A913-228692FD8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24" name="Freeform 20">
              <a:extLst>
                <a:ext uri="{FF2B5EF4-FFF2-40B4-BE49-F238E27FC236}">
                  <a16:creationId xmlns:a16="http://schemas.microsoft.com/office/drawing/2014/main" id="{615D8F55-8ACD-4EFE-A832-06E78547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25" name="Freeform 21">
              <a:extLst>
                <a:ext uri="{FF2B5EF4-FFF2-40B4-BE49-F238E27FC236}">
                  <a16:creationId xmlns:a16="http://schemas.microsoft.com/office/drawing/2014/main" id="{0FDF4201-8CEC-474B-A6B1-88039B704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26" name="Freeform 22">
              <a:extLst>
                <a:ext uri="{FF2B5EF4-FFF2-40B4-BE49-F238E27FC236}">
                  <a16:creationId xmlns:a16="http://schemas.microsoft.com/office/drawing/2014/main" id="{0F60AEA4-B25F-417E-93FC-59686DFBE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sp>
        <p:nvSpPr>
          <p:cNvPr id="3" name="Content Placeholder 2">
            <a:extLst>
              <a:ext uri="{FF2B5EF4-FFF2-40B4-BE49-F238E27FC236}">
                <a16:creationId xmlns:a16="http://schemas.microsoft.com/office/drawing/2014/main" id="{89E103FB-59F3-4511-9F3F-1B0AB28624FE}"/>
              </a:ext>
            </a:extLst>
          </p:cNvPr>
          <p:cNvSpPr>
            <a:spLocks noGrp="1"/>
          </p:cNvSpPr>
          <p:nvPr>
            <p:ph idx="1"/>
          </p:nvPr>
        </p:nvSpPr>
        <p:spPr>
          <a:xfrm>
            <a:off x="3771675" y="914847"/>
            <a:ext cx="4822329" cy="4825332"/>
          </a:xfrm>
        </p:spPr>
        <p:txBody>
          <a:bodyPr anchor="ctr">
            <a:normAutofit/>
          </a:bodyPr>
          <a:lstStyle/>
          <a:p>
            <a:pPr algn="just"/>
            <a:r>
              <a:rPr lang="en-US" sz="1600" dirty="0">
                <a:solidFill>
                  <a:schemeClr val="tx2">
                    <a:lumMod val="75000"/>
                  </a:schemeClr>
                </a:solidFill>
                <a:latin typeface="Times New Roman" panose="02020603050405020304" pitchFamily="18" charset="0"/>
                <a:cs typeface="Times New Roman" panose="02020603050405020304" pitchFamily="18" charset="0"/>
              </a:rPr>
              <a:t>Something new is implemented to overcome the issues in establishing key capacity regions for four source models of generating a pair of secret keys which was never done by anyone before.</a:t>
            </a:r>
          </a:p>
          <a:p>
            <a:pPr algn="just"/>
            <a:r>
              <a:rPr lang="en-US" sz="1600" dirty="0">
                <a:solidFill>
                  <a:schemeClr val="tx2">
                    <a:lumMod val="75000"/>
                  </a:schemeClr>
                </a:solidFill>
                <a:latin typeface="Times New Roman" panose="02020603050405020304" pitchFamily="18" charset="0"/>
                <a:cs typeface="Times New Roman" panose="02020603050405020304" pitchFamily="18" charset="0"/>
              </a:rPr>
              <a:t>The results provide 2 affirmative answers to both of the limits that are observed.</a:t>
            </a:r>
          </a:p>
          <a:p>
            <a:pPr algn="just"/>
            <a:r>
              <a:rPr lang="en-US" sz="1600" dirty="0">
                <a:solidFill>
                  <a:schemeClr val="tx2">
                    <a:lumMod val="75000"/>
                  </a:schemeClr>
                </a:solidFill>
                <a:latin typeface="Times New Roman" panose="02020603050405020304" pitchFamily="18" charset="0"/>
                <a:cs typeface="Times New Roman" panose="02020603050405020304" pitchFamily="18" charset="0"/>
              </a:rPr>
              <a:t>For all the four models, the cut-set bound is established to be the key capacity region by showing that the cut-set bound is indeed achievable.</a:t>
            </a:r>
          </a:p>
          <a:p>
            <a:pPr algn="just"/>
            <a:r>
              <a:rPr lang="en-US" sz="1600" dirty="0">
                <a:solidFill>
                  <a:schemeClr val="tx2">
                    <a:lumMod val="75000"/>
                  </a:schemeClr>
                </a:solidFill>
                <a:latin typeface="Times New Roman" panose="02020603050405020304" pitchFamily="18" charset="0"/>
                <a:cs typeface="Times New Roman" panose="02020603050405020304" pitchFamily="18" charset="0"/>
              </a:rPr>
              <a:t>Derivation of the Slepian-Wolf conditions is done in this project that guarantee correct key agreement which derive sufficient conditions that guarantee the secrecy requirements</a:t>
            </a:r>
            <a:endParaRPr lang="en-IN" sz="1600" dirty="0">
              <a:solidFill>
                <a:schemeClr val="tx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0255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3"/>
            <a:ext cx="9107487" cy="6655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677331-D829-4545-B107-BFBB999EB8AA}"/>
              </a:ext>
            </a:extLst>
          </p:cNvPr>
          <p:cNvSpPr>
            <a:spLocks noGrp="1"/>
          </p:cNvSpPr>
          <p:nvPr>
            <p:ph type="title"/>
          </p:nvPr>
        </p:nvSpPr>
        <p:spPr>
          <a:xfrm>
            <a:off x="484973" y="626439"/>
            <a:ext cx="4911213" cy="1223439"/>
          </a:xfrm>
        </p:spPr>
        <p:txBody>
          <a:bodyPr>
            <a:normAutofit/>
          </a:bodyPr>
          <a:lstStyle/>
          <a:p>
            <a:pPr marL="0" indent="0">
              <a:lnSpc>
                <a:spcPct val="90000"/>
              </a:lnSpc>
            </a:pPr>
            <a:r>
              <a:rPr lang="en-US" sz="2700" b="1" dirty="0">
                <a:latin typeface="Times New Roman" panose="02020603050405020304" pitchFamily="18" charset="0"/>
                <a:cs typeface="Times New Roman" panose="02020603050405020304" pitchFamily="18" charset="0"/>
              </a:rPr>
              <a:t>Model 1A:Symmetric key  generation with a trusted helper</a:t>
            </a:r>
            <a:endParaRPr lang="en-IN" sz="2700" dirty="0">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6612" cy="665956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F2037C0B-B455-433B-B011-FB6772E20261}"/>
              </a:ext>
            </a:extLst>
          </p:cNvPr>
          <p:cNvSpPr>
            <a:spLocks noGrp="1"/>
          </p:cNvSpPr>
          <p:nvPr>
            <p:ph idx="1"/>
          </p:nvPr>
        </p:nvSpPr>
        <p:spPr>
          <a:xfrm>
            <a:off x="484973" y="2071863"/>
            <a:ext cx="4911212" cy="3650479"/>
          </a:xfrm>
        </p:spPr>
        <p:txBody>
          <a:bodyPr>
            <a:noAutofit/>
          </a:bodyPr>
          <a:lstStyle/>
          <a:p>
            <a:pPr algn="just">
              <a:lnSpc>
                <a:spcPct val="90000"/>
              </a:lnSpc>
            </a:pPr>
            <a:r>
              <a:rPr lang="en-US" sz="1400" dirty="0">
                <a:latin typeface="Times New Roman" panose="02020603050405020304" pitchFamily="18" charset="0"/>
                <a:cs typeface="Times New Roman" panose="02020603050405020304" pitchFamily="18" charset="0"/>
              </a:rPr>
              <a:t>The project consists of four different models, and in all models the base station terminal X0 wishes to agree on keys K1 and K2 with mobile terminals X1 and X2, respectively, under the help of terminal X3. The models differentiate from each other due to secrecy requirements.</a:t>
            </a:r>
          </a:p>
          <a:p>
            <a:pPr algn="just">
              <a:lnSpc>
                <a:spcPct val="90000"/>
              </a:lnSpc>
            </a:pPr>
            <a:r>
              <a:rPr lang="en-US" sz="1400" dirty="0">
                <a:latin typeface="Times New Roman" panose="02020603050405020304" pitchFamily="18" charset="0"/>
                <a:cs typeface="Times New Roman" panose="02020603050405020304" pitchFamily="18" charset="0"/>
              </a:rPr>
              <a:t>Models 1a address symmetric key generation, in which secrecy requirements for two keys are the same.</a:t>
            </a:r>
          </a:p>
          <a:p>
            <a:pPr algn="just">
              <a:lnSpc>
                <a:spcPct val="90000"/>
              </a:lnSpc>
            </a:pPr>
            <a:r>
              <a:rPr lang="en-US" sz="1400" dirty="0">
                <a:latin typeface="Times New Roman" panose="02020603050405020304" pitchFamily="18" charset="0"/>
                <a:cs typeface="Times New Roman" panose="02020603050405020304" pitchFamily="18" charset="0"/>
              </a:rPr>
              <a:t>Model 1a (with a trusted helper) requires that the two keys are hidden from the eavesdropper.</a:t>
            </a:r>
          </a:p>
          <a:p>
            <a:pPr algn="just">
              <a:lnSpc>
                <a:spcPct val="90000"/>
              </a:lnSpc>
            </a:pPr>
            <a:endParaRPr lang="en-US" sz="1400" dirty="0">
              <a:latin typeface="Times New Roman" panose="02020603050405020304" pitchFamily="18" charset="0"/>
              <a:cs typeface="Times New Roman" panose="02020603050405020304" pitchFamily="18" charset="0"/>
            </a:endParaRPr>
          </a:p>
          <a:p>
            <a:pPr marL="0" indent="0" algn="just">
              <a:lnSpc>
                <a:spcPct val="90000"/>
              </a:lnSpc>
              <a:buNone/>
            </a:pPr>
            <a:r>
              <a:rPr lang="en-US" sz="1400" dirty="0">
                <a:latin typeface="Times New Roman" panose="02020603050405020304" pitchFamily="18" charset="0"/>
                <a:cs typeface="Times New Roman" panose="02020603050405020304" pitchFamily="18" charset="0"/>
              </a:rPr>
              <a:t>For symmetric key generation with a trusted helper,</a:t>
            </a:r>
            <a:r>
              <a:rPr lang="en-US" sz="1400" dirty="0"/>
              <a:t> </a:t>
            </a:r>
            <a:r>
              <a:rPr lang="en-US" sz="1400" dirty="0">
                <a:latin typeface="Times New Roman" panose="02020603050405020304" pitchFamily="18" charset="0"/>
                <a:cs typeface="Times New Roman" panose="02020603050405020304" pitchFamily="18" charset="0"/>
              </a:rPr>
              <a:t>K1 and K2 are required to respectively satisfy the secrecy condition:</a:t>
            </a:r>
          </a:p>
          <a:p>
            <a:pPr marL="0" indent="0" algn="just">
              <a:lnSpc>
                <a:spcPct val="90000"/>
              </a:lnSpc>
              <a:buNone/>
            </a:pP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1/n I(K1K2; F) &lt;</a:t>
            </a:r>
            <a:r>
              <a:rPr lang="el-GR" sz="1400" b="1" i="0" dirty="0">
                <a:effectLst/>
                <a:latin typeface="Arial" panose="020B0604020202020204" pitchFamily="34" charset="0"/>
              </a:rPr>
              <a:t>ε</a:t>
            </a:r>
            <a:endParaRPr lang="en-US" sz="1400" b="1" dirty="0">
              <a:latin typeface="Times New Roman" panose="02020603050405020304" pitchFamily="18" charset="0"/>
              <a:cs typeface="Times New Roman" panose="02020603050405020304" pitchFamily="18" charset="0"/>
            </a:endParaRPr>
          </a:p>
          <a:p>
            <a:pPr marL="0" indent="0" algn="just">
              <a:lnSpc>
                <a:spcPct val="90000"/>
              </a:lnSpc>
              <a:buNone/>
            </a:pPr>
            <a:endParaRPr lang="en-US" sz="14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89E3222-F08F-4690-BBA4-8032142C885A}"/>
              </a:ext>
            </a:extLst>
          </p:cNvPr>
          <p:cNvPicPr>
            <a:picLocks noChangeAspect="1"/>
          </p:cNvPicPr>
          <p:nvPr/>
        </p:nvPicPr>
        <p:blipFill>
          <a:blip r:embed="rId2"/>
          <a:stretch>
            <a:fillRect/>
          </a:stretch>
        </p:blipFill>
        <p:spPr>
          <a:xfrm>
            <a:off x="5648919" y="1702178"/>
            <a:ext cx="2974167" cy="2944424"/>
          </a:xfrm>
          <a:prstGeom prst="rect">
            <a:avLst/>
          </a:prstGeom>
        </p:spPr>
      </p:pic>
      <p:sp>
        <p:nvSpPr>
          <p:cNvPr id="31"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85840"/>
            <a:ext cx="775417" cy="491628"/>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6208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3"/>
            <a:ext cx="9107487" cy="6655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677331-D829-4545-B107-BFBB999EB8AA}"/>
              </a:ext>
            </a:extLst>
          </p:cNvPr>
          <p:cNvSpPr>
            <a:spLocks noGrp="1"/>
          </p:cNvSpPr>
          <p:nvPr>
            <p:ph type="title"/>
          </p:nvPr>
        </p:nvSpPr>
        <p:spPr>
          <a:xfrm>
            <a:off x="484973" y="626439"/>
            <a:ext cx="4911213" cy="1223439"/>
          </a:xfrm>
        </p:spPr>
        <p:txBody>
          <a:bodyPr>
            <a:normAutofit/>
          </a:bodyPr>
          <a:lstStyle/>
          <a:p>
            <a:pPr marL="0" indent="0">
              <a:lnSpc>
                <a:spcPct val="90000"/>
              </a:lnSpc>
            </a:pPr>
            <a:r>
              <a:rPr lang="en-US" sz="2700" b="1" dirty="0">
                <a:latin typeface="Times New Roman" panose="02020603050405020304" pitchFamily="18" charset="0"/>
                <a:cs typeface="Times New Roman" panose="02020603050405020304" pitchFamily="18" charset="0"/>
              </a:rPr>
              <a:t>Model 1B: Symmetric key  generation with an untrusted helper</a:t>
            </a:r>
            <a:endParaRPr lang="en-IN" sz="2700" dirty="0">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6612" cy="665956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F2037C0B-B455-433B-B011-FB6772E20261}"/>
              </a:ext>
            </a:extLst>
          </p:cNvPr>
          <p:cNvSpPr>
            <a:spLocks noGrp="1"/>
          </p:cNvSpPr>
          <p:nvPr>
            <p:ph idx="1"/>
          </p:nvPr>
        </p:nvSpPr>
        <p:spPr>
          <a:xfrm>
            <a:off x="484973" y="2071863"/>
            <a:ext cx="4911212" cy="3650479"/>
          </a:xfrm>
        </p:spPr>
        <p:txBody>
          <a:bodyPr>
            <a:normAutofit/>
          </a:bodyPr>
          <a:lstStyle/>
          <a:p>
            <a:pPr algn="just">
              <a:lnSpc>
                <a:spcPct val="90000"/>
              </a:lnSpc>
            </a:pPr>
            <a:r>
              <a:rPr lang="en-US" sz="1400" dirty="0">
                <a:latin typeface="Times New Roman" panose="02020603050405020304" pitchFamily="18" charset="0"/>
                <a:cs typeface="Times New Roman" panose="02020603050405020304" pitchFamily="18" charset="0"/>
              </a:rPr>
              <a:t>Models 1B address symmetric key generation, in which secrecy requirements for two keys are the same. </a:t>
            </a:r>
          </a:p>
          <a:p>
            <a:pPr algn="just">
              <a:lnSpc>
                <a:spcPct val="90000"/>
              </a:lnSpc>
            </a:pPr>
            <a:r>
              <a:rPr lang="en-US" sz="1400" dirty="0">
                <a:latin typeface="Times New Roman" panose="02020603050405020304" pitchFamily="18" charset="0"/>
                <a:cs typeface="Times New Roman" panose="02020603050405020304" pitchFamily="18" charset="0"/>
              </a:rPr>
              <a:t>Model 1B with an untrusted helper requires that the two keys are hidden from the eavesdropper</a:t>
            </a:r>
          </a:p>
          <a:p>
            <a:pPr algn="just">
              <a:lnSpc>
                <a:spcPct val="90000"/>
              </a:lnSpc>
            </a:pPr>
            <a:r>
              <a:rPr lang="en-US" sz="1400" dirty="0">
                <a:latin typeface="Times New Roman" panose="02020603050405020304" pitchFamily="18" charset="0"/>
                <a:cs typeface="Times New Roman" panose="02020603050405020304" pitchFamily="18" charset="0"/>
              </a:rPr>
              <a:t>Further it requires that the two keys are hidden from terminal X3 in addition to the eavesdropper. </a:t>
            </a:r>
          </a:p>
          <a:p>
            <a:pPr algn="just">
              <a:lnSpc>
                <a:spcPct val="90000"/>
              </a:lnSpc>
            </a:pPr>
            <a:r>
              <a:rPr lang="en-US" sz="1400" dirty="0">
                <a:latin typeface="Times New Roman" panose="02020603050405020304" pitchFamily="18" charset="0"/>
                <a:cs typeface="Times New Roman" panose="02020603050405020304" pitchFamily="18" charset="0"/>
              </a:rPr>
              <a:t>In the case of untrusted helper, we assume that the helper is curious but honest. The helper attempts to infer the information about the generated keys but still follows the protocol.</a:t>
            </a:r>
          </a:p>
          <a:p>
            <a:pPr marL="0" indent="0" algn="just">
              <a:lnSpc>
                <a:spcPct val="90000"/>
              </a:lnSpc>
              <a:buNone/>
            </a:pPr>
            <a:r>
              <a:rPr lang="en-US" sz="1400" dirty="0">
                <a:latin typeface="Times New Roman" panose="02020603050405020304" pitchFamily="18" charset="0"/>
                <a:cs typeface="Times New Roman" panose="02020603050405020304" pitchFamily="18" charset="0"/>
              </a:rPr>
              <a:t>For asymmetric key generation with a untrusted helper,</a:t>
            </a:r>
            <a:r>
              <a:rPr lang="en-US" sz="1400" dirty="0"/>
              <a:t> </a:t>
            </a:r>
            <a:r>
              <a:rPr lang="en-US" sz="1400" dirty="0">
                <a:latin typeface="Times New Roman" panose="02020603050405020304" pitchFamily="18" charset="0"/>
                <a:cs typeface="Times New Roman" panose="02020603050405020304" pitchFamily="18" charset="0"/>
              </a:rPr>
              <a:t>K1 and K2 are required to respectively satisfy the secrecy condition:</a:t>
            </a:r>
          </a:p>
          <a:p>
            <a:pPr marL="0" indent="0" algn="just">
              <a:lnSpc>
                <a:spcPct val="90000"/>
              </a:lnSpc>
              <a:buNone/>
            </a:pP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1/n I(K1K2; X3^</a:t>
            </a:r>
            <a:r>
              <a:rPr lang="en-US" sz="1400" dirty="0">
                <a:latin typeface="Times New Roman" panose="02020603050405020304" pitchFamily="18" charset="0"/>
                <a:cs typeface="Times New Roman" panose="02020603050405020304" pitchFamily="18" charset="0"/>
              </a:rPr>
              <a:t>n</a:t>
            </a:r>
            <a:r>
              <a:rPr lang="en-US" sz="1400" b="1" dirty="0">
                <a:latin typeface="Times New Roman" panose="02020603050405020304" pitchFamily="18" charset="0"/>
                <a:cs typeface="Times New Roman" panose="02020603050405020304" pitchFamily="18" charset="0"/>
              </a:rPr>
              <a:t>F) &lt;</a:t>
            </a:r>
            <a:r>
              <a:rPr lang="el-GR" sz="1400" b="1" i="0" dirty="0">
                <a:effectLst/>
                <a:latin typeface="Arial" panose="020B0604020202020204" pitchFamily="34" charset="0"/>
              </a:rPr>
              <a:t> ε</a:t>
            </a:r>
            <a:endParaRPr lang="en-US" sz="1400" b="1" dirty="0">
              <a:latin typeface="Times New Roman" panose="02020603050405020304" pitchFamily="18" charset="0"/>
              <a:cs typeface="Times New Roman" panose="02020603050405020304" pitchFamily="18" charset="0"/>
            </a:endParaRPr>
          </a:p>
          <a:p>
            <a:pPr marL="0" indent="0" algn="just">
              <a:lnSpc>
                <a:spcPct val="90000"/>
              </a:lnSpc>
              <a:buNone/>
            </a:pPr>
            <a:endParaRPr lang="en-US" sz="1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B9DF051-E3E7-424B-9989-855477B5BA6A}"/>
              </a:ext>
            </a:extLst>
          </p:cNvPr>
          <p:cNvPicPr>
            <a:picLocks noChangeAspect="1"/>
          </p:cNvPicPr>
          <p:nvPr/>
        </p:nvPicPr>
        <p:blipFill>
          <a:blip r:embed="rId2"/>
          <a:stretch>
            <a:fillRect/>
          </a:stretch>
        </p:blipFill>
        <p:spPr>
          <a:xfrm>
            <a:off x="5648919" y="1720766"/>
            <a:ext cx="2974167" cy="2907248"/>
          </a:xfrm>
          <a:prstGeom prst="rect">
            <a:avLst/>
          </a:prstGeom>
        </p:spPr>
      </p:pic>
      <p:sp>
        <p:nvSpPr>
          <p:cNvPr id="31"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85840"/>
            <a:ext cx="775417" cy="491628"/>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0928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3"/>
            <a:ext cx="9107487" cy="6655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677331-D829-4545-B107-BFBB999EB8AA}"/>
              </a:ext>
            </a:extLst>
          </p:cNvPr>
          <p:cNvSpPr>
            <a:spLocks noGrp="1"/>
          </p:cNvSpPr>
          <p:nvPr>
            <p:ph type="title"/>
          </p:nvPr>
        </p:nvSpPr>
        <p:spPr>
          <a:xfrm>
            <a:off x="484973" y="626439"/>
            <a:ext cx="4911213" cy="1223439"/>
          </a:xfrm>
        </p:spPr>
        <p:txBody>
          <a:bodyPr>
            <a:normAutofit/>
          </a:bodyPr>
          <a:lstStyle/>
          <a:p>
            <a:pPr marL="0" indent="0">
              <a:lnSpc>
                <a:spcPct val="90000"/>
              </a:lnSpc>
              <a:buNone/>
            </a:pPr>
            <a:r>
              <a:rPr lang="en-US" sz="2700" b="1">
                <a:latin typeface="Times New Roman" panose="02020603050405020304" pitchFamily="18" charset="0"/>
                <a:cs typeface="Times New Roman" panose="02020603050405020304" pitchFamily="18" charset="0"/>
              </a:rPr>
              <a:t>Model 2A: Asymmetric key generation with a trusted helper</a:t>
            </a:r>
          </a:p>
        </p:txBody>
      </p:sp>
      <p:sp>
        <p:nvSpPr>
          <p:cNvPr id="20" name="Rectangle 19">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6612" cy="665956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F2037C0B-B455-433B-B011-FB6772E20261}"/>
              </a:ext>
            </a:extLst>
          </p:cNvPr>
          <p:cNvSpPr>
            <a:spLocks noGrp="1"/>
          </p:cNvSpPr>
          <p:nvPr>
            <p:ph idx="1"/>
          </p:nvPr>
        </p:nvSpPr>
        <p:spPr>
          <a:xfrm>
            <a:off x="484973" y="2071863"/>
            <a:ext cx="4911212" cy="3650479"/>
          </a:xfrm>
        </p:spPr>
        <p:txBody>
          <a:bodyPr>
            <a:normAutofit/>
          </a:bodyPr>
          <a:lstStyle/>
          <a:p>
            <a:pPr algn="just">
              <a:lnSpc>
                <a:spcPct val="90000"/>
              </a:lnSpc>
            </a:pPr>
            <a:r>
              <a:rPr lang="en-US" sz="1400" dirty="0">
                <a:latin typeface="Times New Roman" panose="02020603050405020304" pitchFamily="18" charset="0"/>
                <a:cs typeface="Times New Roman" panose="02020603050405020304" pitchFamily="18" charset="0"/>
              </a:rPr>
              <a:t>Models 2a with a trusted helper have the same secrecy requirements for the two keys as models 1a and 1b, respectively, in addition to that the key K2 is further required to be hidden from terminal X1.</a:t>
            </a:r>
          </a:p>
          <a:p>
            <a:pPr algn="just">
              <a:lnSpc>
                <a:spcPct val="90000"/>
              </a:lnSpc>
            </a:pPr>
            <a:r>
              <a:rPr lang="en-US" sz="1400" dirty="0">
                <a:latin typeface="Times New Roman" panose="02020603050405020304" pitchFamily="18" charset="0"/>
                <a:cs typeface="Times New Roman" panose="02020603050405020304" pitchFamily="18" charset="0"/>
              </a:rPr>
              <a:t> Thus, models 2a address asymmetric key generation.</a:t>
            </a:r>
          </a:p>
          <a:p>
            <a:pPr marL="285750" indent="-285750" algn="just">
              <a:lnSpc>
                <a:spcPct val="9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For asymmetric key generation with a trusted helper,</a:t>
            </a:r>
            <a:r>
              <a:rPr lang="en-US" sz="1400" dirty="0"/>
              <a:t> </a:t>
            </a:r>
            <a:r>
              <a:rPr lang="en-US" sz="1400" dirty="0">
                <a:latin typeface="Times New Roman" panose="02020603050405020304" pitchFamily="18" charset="0"/>
                <a:cs typeface="Times New Roman" panose="02020603050405020304" pitchFamily="18" charset="0"/>
              </a:rPr>
              <a:t>K1 and K2 are required to respectively satisfy the secrecy conditions:</a:t>
            </a:r>
          </a:p>
          <a:p>
            <a:pPr marL="0" indent="0" algn="just">
              <a:lnSpc>
                <a:spcPct val="90000"/>
              </a:lnSpc>
              <a:buNone/>
            </a:pPr>
            <a:r>
              <a:rPr kumimoji="0" lang="en-US" sz="1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1/n I(K1; F) &lt;</a:t>
            </a:r>
            <a:r>
              <a:rPr lang="el-GR" sz="1400" b="1" i="0" dirty="0">
                <a:effectLst/>
                <a:latin typeface="Arial" panose="020B0604020202020204" pitchFamily="34" charset="0"/>
              </a:rPr>
              <a:t> ε</a:t>
            </a:r>
            <a:r>
              <a:rPr lang="en-US" sz="1400" b="1" dirty="0">
                <a:latin typeface="Times New Roman" panose="02020603050405020304" pitchFamily="18" charset="0"/>
                <a:cs typeface="Times New Roman" panose="02020603050405020304" pitchFamily="18" charset="0"/>
              </a:rPr>
              <a:t> ,</a:t>
            </a:r>
          </a:p>
          <a:p>
            <a:pPr marL="0" indent="0" algn="just">
              <a:lnSpc>
                <a:spcPct val="90000"/>
              </a:lnSpc>
              <a:buNone/>
            </a:pPr>
            <a:r>
              <a:rPr lang="en-US" sz="1400" b="1" dirty="0">
                <a:latin typeface="Times New Roman" panose="02020603050405020304" pitchFamily="18" charset="0"/>
                <a:cs typeface="Times New Roman" panose="02020603050405020304" pitchFamily="18" charset="0"/>
              </a:rPr>
              <a:t>               1/n I(K2;F,X1^n) &lt;</a:t>
            </a:r>
            <a:r>
              <a:rPr lang="el-GR" sz="1400" b="1" i="0" dirty="0">
                <a:effectLst/>
                <a:latin typeface="Arial" panose="020B0604020202020204" pitchFamily="34" charset="0"/>
              </a:rPr>
              <a:t> ε</a:t>
            </a:r>
            <a:endParaRPr kumimoji="0" lang="en-US" sz="1400" b="1"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endParaRPr>
          </a:p>
          <a:p>
            <a:pPr marL="0" indent="0" algn="just">
              <a:lnSpc>
                <a:spcPct val="90000"/>
              </a:lnSpc>
              <a:buNone/>
            </a:pPr>
            <a:endParaRPr lang="en-US" sz="14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A1EF1B8-B202-4BAD-8AC2-71C55DB61B1C}"/>
              </a:ext>
            </a:extLst>
          </p:cNvPr>
          <p:cNvPicPr>
            <a:picLocks noChangeAspect="1"/>
          </p:cNvPicPr>
          <p:nvPr/>
        </p:nvPicPr>
        <p:blipFill>
          <a:blip r:embed="rId2"/>
          <a:stretch>
            <a:fillRect/>
          </a:stretch>
        </p:blipFill>
        <p:spPr>
          <a:xfrm>
            <a:off x="5648919" y="1691025"/>
            <a:ext cx="2974167" cy="2966731"/>
          </a:xfrm>
          <a:prstGeom prst="rect">
            <a:avLst/>
          </a:prstGeom>
        </p:spPr>
      </p:pic>
      <p:sp>
        <p:nvSpPr>
          <p:cNvPr id="22"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85840"/>
            <a:ext cx="775417" cy="491628"/>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9807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3"/>
            <a:ext cx="9107487" cy="6655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677331-D829-4545-B107-BFBB999EB8AA}"/>
              </a:ext>
            </a:extLst>
          </p:cNvPr>
          <p:cNvSpPr>
            <a:spLocks noGrp="1"/>
          </p:cNvSpPr>
          <p:nvPr>
            <p:ph type="title"/>
          </p:nvPr>
        </p:nvSpPr>
        <p:spPr>
          <a:xfrm>
            <a:off x="484973" y="626439"/>
            <a:ext cx="4911213" cy="1223439"/>
          </a:xfrm>
        </p:spPr>
        <p:txBody>
          <a:bodyPr>
            <a:normAutofit/>
          </a:bodyPr>
          <a:lstStyle/>
          <a:p>
            <a:pPr marL="0" indent="0">
              <a:lnSpc>
                <a:spcPct val="90000"/>
              </a:lnSpc>
              <a:buNone/>
            </a:pPr>
            <a:r>
              <a:rPr lang="en-US" sz="2700" b="1" dirty="0">
                <a:latin typeface="Times New Roman" panose="02020603050405020304" pitchFamily="18" charset="0"/>
                <a:cs typeface="Times New Roman" panose="02020603050405020304" pitchFamily="18" charset="0"/>
              </a:rPr>
              <a:t>Model 2B: Asymmetric key generation with an untrusted helper</a:t>
            </a:r>
          </a:p>
        </p:txBody>
      </p:sp>
      <p:sp>
        <p:nvSpPr>
          <p:cNvPr id="20" name="Rectangle 19">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6612" cy="665956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F2037C0B-B455-433B-B011-FB6772E20261}"/>
              </a:ext>
            </a:extLst>
          </p:cNvPr>
          <p:cNvSpPr>
            <a:spLocks noGrp="1"/>
          </p:cNvSpPr>
          <p:nvPr>
            <p:ph idx="1"/>
          </p:nvPr>
        </p:nvSpPr>
        <p:spPr>
          <a:xfrm>
            <a:off x="484973" y="2071863"/>
            <a:ext cx="4911212" cy="3650479"/>
          </a:xfrm>
        </p:spPr>
        <p:txBody>
          <a:bodyPr>
            <a:normAutofit/>
          </a:bodyPr>
          <a:lstStyle/>
          <a:p>
            <a:pPr algn="just"/>
            <a:r>
              <a:rPr lang="en-US" sz="1400" dirty="0">
                <a:latin typeface="Times New Roman" panose="02020603050405020304" pitchFamily="18" charset="0"/>
                <a:cs typeface="Times New Roman" panose="02020603050405020304" pitchFamily="18" charset="0"/>
              </a:rPr>
              <a:t>Models 2B with an untrusted helper have the requirement that the two keys are hidden from terminal X3 in addition to the eavesdropper. </a:t>
            </a:r>
          </a:p>
          <a:p>
            <a:pPr algn="just"/>
            <a:r>
              <a:rPr lang="en-US" sz="1400" dirty="0">
                <a:latin typeface="Times New Roman" panose="02020603050405020304" pitchFamily="18" charset="0"/>
                <a:cs typeface="Times New Roman" panose="02020603050405020304" pitchFamily="18" charset="0"/>
              </a:rPr>
              <a:t>In addition to that the key K2 is further required to be hidden from terminal X1.</a:t>
            </a:r>
          </a:p>
          <a:p>
            <a:pPr marL="285750" indent="-285750" algn="just">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For asymmetric key generation with an untrusted helper, K1 and K2 are required to respectively satisfy the secrecy conditions:</a:t>
            </a:r>
          </a:p>
          <a:p>
            <a:pPr marL="0" indent="0" algn="just">
              <a:buNone/>
            </a:pP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1/n I(K1; F,X3^n) &lt;</a:t>
            </a:r>
            <a:r>
              <a:rPr lang="el-GR" sz="1400" b="1" i="0" dirty="0">
                <a:effectLst/>
                <a:latin typeface="Times New Roman" panose="02020603050405020304" pitchFamily="18" charset="0"/>
                <a:cs typeface="Times New Roman" panose="02020603050405020304" pitchFamily="18" charset="0"/>
              </a:rPr>
              <a:t> ε</a:t>
            </a:r>
            <a:r>
              <a:rPr lang="en-US" sz="1400" b="1" dirty="0">
                <a:latin typeface="Times New Roman" panose="02020603050405020304" pitchFamily="18" charset="0"/>
                <a:cs typeface="Times New Roman" panose="02020603050405020304" pitchFamily="18" charset="0"/>
              </a:rPr>
              <a:t> ,</a:t>
            </a:r>
          </a:p>
          <a:p>
            <a:pPr marL="0" indent="0" algn="just">
              <a:buNone/>
            </a:pPr>
            <a:r>
              <a:rPr lang="en-US" sz="1400" b="1" dirty="0">
                <a:latin typeface="Times New Roman" panose="02020603050405020304" pitchFamily="18" charset="0"/>
                <a:cs typeface="Times New Roman" panose="02020603050405020304" pitchFamily="18" charset="0"/>
              </a:rPr>
              <a:t>               1/n I(K2;F,X1^n,X3^n) &lt;</a:t>
            </a:r>
            <a:r>
              <a:rPr lang="el-GR" sz="1400" b="1" i="0" dirty="0">
                <a:effectLst/>
                <a:latin typeface="Times New Roman" panose="02020603050405020304" pitchFamily="18" charset="0"/>
                <a:cs typeface="Times New Roman" panose="02020603050405020304" pitchFamily="18" charset="0"/>
              </a:rPr>
              <a:t> ε</a:t>
            </a:r>
            <a:endParaRPr lang="en-US" sz="1400" b="1" dirty="0">
              <a:latin typeface="Times New Roman" panose="02020603050405020304" pitchFamily="18" charset="0"/>
              <a:cs typeface="Times New Roman" panose="02020603050405020304" pitchFamily="18" charset="0"/>
            </a:endParaRPr>
          </a:p>
          <a:p>
            <a:pPr marL="0" indent="0" algn="just">
              <a:buNone/>
            </a:pPr>
            <a:endParaRPr lang="en-US" sz="14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A1EF1B8-B202-4BAD-8AC2-71C55DB61B1C}"/>
              </a:ext>
            </a:extLst>
          </p:cNvPr>
          <p:cNvPicPr>
            <a:picLocks noChangeAspect="1"/>
          </p:cNvPicPr>
          <p:nvPr/>
        </p:nvPicPr>
        <p:blipFill>
          <a:blip r:embed="rId2"/>
          <a:stretch>
            <a:fillRect/>
          </a:stretch>
        </p:blipFill>
        <p:spPr>
          <a:xfrm>
            <a:off x="5648919" y="1691025"/>
            <a:ext cx="2974167" cy="2966731"/>
          </a:xfrm>
          <a:prstGeom prst="rect">
            <a:avLst/>
          </a:prstGeom>
        </p:spPr>
      </p:pic>
      <p:sp>
        <p:nvSpPr>
          <p:cNvPr id="22"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85840"/>
            <a:ext cx="775417" cy="491628"/>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2209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46F010-D160-4609-8979-FFD8C1EA6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07486" cy="66595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D7D582-F7B2-4116-BC7A-423584E46630}"/>
              </a:ext>
            </a:extLst>
          </p:cNvPr>
          <p:cNvSpPr>
            <a:spLocks noGrp="1"/>
          </p:cNvSpPr>
          <p:nvPr>
            <p:ph type="title"/>
          </p:nvPr>
        </p:nvSpPr>
        <p:spPr>
          <a:xfrm>
            <a:off x="2519694" y="606051"/>
            <a:ext cx="6074311" cy="1243827"/>
          </a:xfrm>
        </p:spPr>
        <p:txBody>
          <a:bodyPr>
            <a:normAutofit/>
          </a:bodyPr>
          <a:lstStyle/>
          <a:p>
            <a:r>
              <a:rPr lang="en-US">
                <a:latin typeface="Times New Roman" panose="02020603050405020304" pitchFamily="18" charset="0"/>
                <a:cs typeface="Times New Roman" panose="02020603050405020304" pitchFamily="18" charset="0"/>
              </a:rPr>
              <a:t>SYMETRIC GENERATION WITH UNTRUSTED HELPER</a:t>
            </a:r>
            <a:endParaRPr lang="en-IN">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81B8C4F6-C3AC-4C94-8EC7-E4F7B7E9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130097" cy="66595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0B789310-9859-4942-98C8-3D2F12AAA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21986"/>
            <a:ext cx="2130098" cy="6446541"/>
            <a:chOff x="2487613" y="285750"/>
            <a:chExt cx="2428875" cy="5654676"/>
          </a:xfrm>
          <a:solidFill>
            <a:schemeClr val="tx2">
              <a:lumMod val="60000"/>
              <a:lumOff val="40000"/>
              <a:alpha val="40000"/>
            </a:schemeClr>
          </a:solidFill>
        </p:grpSpPr>
        <p:sp>
          <p:nvSpPr>
            <p:cNvPr id="13" name="Freeform 11">
              <a:extLst>
                <a:ext uri="{FF2B5EF4-FFF2-40B4-BE49-F238E27FC236}">
                  <a16:creationId xmlns:a16="http://schemas.microsoft.com/office/drawing/2014/main" id="{FE9E5460-2AA9-4786-B69C-23DBEF356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14" name="Freeform 12">
              <a:extLst>
                <a:ext uri="{FF2B5EF4-FFF2-40B4-BE49-F238E27FC236}">
                  <a16:creationId xmlns:a16="http://schemas.microsoft.com/office/drawing/2014/main" id="{E344A2AF-3860-4427-B13E-98021C17A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15" name="Freeform 13">
              <a:extLst>
                <a:ext uri="{FF2B5EF4-FFF2-40B4-BE49-F238E27FC236}">
                  <a16:creationId xmlns:a16="http://schemas.microsoft.com/office/drawing/2014/main" id="{DDBDD44E-1DC0-48AB-8FEC-E098D9197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16" name="Freeform 14">
              <a:extLst>
                <a:ext uri="{FF2B5EF4-FFF2-40B4-BE49-F238E27FC236}">
                  <a16:creationId xmlns:a16="http://schemas.microsoft.com/office/drawing/2014/main" id="{3151FF3E-5E3F-4D82-A684-0003BACEA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17" name="Freeform 15">
              <a:extLst>
                <a:ext uri="{FF2B5EF4-FFF2-40B4-BE49-F238E27FC236}">
                  <a16:creationId xmlns:a16="http://schemas.microsoft.com/office/drawing/2014/main" id="{C6CBF27E-7F0C-4489-95A7-82DE1C046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18" name="Freeform 16">
              <a:extLst>
                <a:ext uri="{FF2B5EF4-FFF2-40B4-BE49-F238E27FC236}">
                  <a16:creationId xmlns:a16="http://schemas.microsoft.com/office/drawing/2014/main" id="{233BE304-221E-425E-A484-4B2E5F405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19" name="Freeform 17">
              <a:extLst>
                <a:ext uri="{FF2B5EF4-FFF2-40B4-BE49-F238E27FC236}">
                  <a16:creationId xmlns:a16="http://schemas.microsoft.com/office/drawing/2014/main" id="{10D5734E-EAEA-4A08-86A9-39BD5563E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20" name="Freeform 18">
              <a:extLst>
                <a:ext uri="{FF2B5EF4-FFF2-40B4-BE49-F238E27FC236}">
                  <a16:creationId xmlns:a16="http://schemas.microsoft.com/office/drawing/2014/main" id="{4D47FE86-98D1-4E35-86E4-16E9A19A6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21" name="Freeform 19">
              <a:extLst>
                <a:ext uri="{FF2B5EF4-FFF2-40B4-BE49-F238E27FC236}">
                  <a16:creationId xmlns:a16="http://schemas.microsoft.com/office/drawing/2014/main" id="{F00661F9-B224-4DB1-8EFB-ABF9402BD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22" name="Freeform 20">
              <a:extLst>
                <a:ext uri="{FF2B5EF4-FFF2-40B4-BE49-F238E27FC236}">
                  <a16:creationId xmlns:a16="http://schemas.microsoft.com/office/drawing/2014/main" id="{679DCB4E-8D36-4B7A-AF0C-8399F113A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23" name="Freeform 21">
              <a:extLst>
                <a:ext uri="{FF2B5EF4-FFF2-40B4-BE49-F238E27FC236}">
                  <a16:creationId xmlns:a16="http://schemas.microsoft.com/office/drawing/2014/main" id="{4FAD51F6-D24C-4FD6-BEAE-41F0E5A82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24" name="Freeform 22">
              <a:extLst>
                <a:ext uri="{FF2B5EF4-FFF2-40B4-BE49-F238E27FC236}">
                  <a16:creationId xmlns:a16="http://schemas.microsoft.com/office/drawing/2014/main" id="{87AC773F-6D31-458A-9DD7-76566C8A9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26" name="Group 25">
            <a:extLst>
              <a:ext uri="{FF2B5EF4-FFF2-40B4-BE49-F238E27FC236}">
                <a16:creationId xmlns:a16="http://schemas.microsoft.com/office/drawing/2014/main" id="{6F1CEC7A-E419-4950-AA57-B00546C29C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324" y="-763"/>
            <a:ext cx="1760444" cy="6655715"/>
            <a:chOff x="6627813" y="194833"/>
            <a:chExt cx="1952625" cy="5678918"/>
          </a:xfrm>
          <a:solidFill>
            <a:schemeClr val="tx2">
              <a:lumMod val="75000"/>
              <a:alpha val="70000"/>
            </a:schemeClr>
          </a:solidFill>
        </p:grpSpPr>
        <p:sp>
          <p:nvSpPr>
            <p:cNvPr id="27" name="Freeform 27">
              <a:extLst>
                <a:ext uri="{FF2B5EF4-FFF2-40B4-BE49-F238E27FC236}">
                  <a16:creationId xmlns:a16="http://schemas.microsoft.com/office/drawing/2014/main" id="{7AE7DCD1-5235-45E8-B229-15A3E3962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28" name="Freeform 28">
              <a:extLst>
                <a:ext uri="{FF2B5EF4-FFF2-40B4-BE49-F238E27FC236}">
                  <a16:creationId xmlns:a16="http://schemas.microsoft.com/office/drawing/2014/main" id="{C82E58C3-65A5-4079-BF94-E675AA410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29" name="Freeform 29">
              <a:extLst>
                <a:ext uri="{FF2B5EF4-FFF2-40B4-BE49-F238E27FC236}">
                  <a16:creationId xmlns:a16="http://schemas.microsoft.com/office/drawing/2014/main" id="{7AABE1FA-6DC8-4A47-AC5C-F05B9C111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30" name="Freeform 30">
              <a:extLst>
                <a:ext uri="{FF2B5EF4-FFF2-40B4-BE49-F238E27FC236}">
                  <a16:creationId xmlns:a16="http://schemas.microsoft.com/office/drawing/2014/main" id="{17BB7298-8900-4C67-B800-BD241F019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31" name="Freeform 31">
              <a:extLst>
                <a:ext uri="{FF2B5EF4-FFF2-40B4-BE49-F238E27FC236}">
                  <a16:creationId xmlns:a16="http://schemas.microsoft.com/office/drawing/2014/main" id="{EE3442F8-53C2-490C-94EF-E423ECB95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32" name="Freeform 32">
              <a:extLst>
                <a:ext uri="{FF2B5EF4-FFF2-40B4-BE49-F238E27FC236}">
                  <a16:creationId xmlns:a16="http://schemas.microsoft.com/office/drawing/2014/main" id="{3DBEA916-8B10-493A-8CBF-9B5FA2A4A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33" name="Freeform 33">
              <a:extLst>
                <a:ext uri="{FF2B5EF4-FFF2-40B4-BE49-F238E27FC236}">
                  <a16:creationId xmlns:a16="http://schemas.microsoft.com/office/drawing/2014/main" id="{248DB27B-F9EA-4F81-A746-7D57B768E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34" name="Freeform 34">
              <a:extLst>
                <a:ext uri="{FF2B5EF4-FFF2-40B4-BE49-F238E27FC236}">
                  <a16:creationId xmlns:a16="http://schemas.microsoft.com/office/drawing/2014/main" id="{998E5C90-2A81-4013-AE09-2023B4407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35" name="Freeform 35">
              <a:extLst>
                <a:ext uri="{FF2B5EF4-FFF2-40B4-BE49-F238E27FC236}">
                  <a16:creationId xmlns:a16="http://schemas.microsoft.com/office/drawing/2014/main" id="{86A8318B-7607-4519-8EEB-C7DD509653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36" name="Freeform 36">
              <a:extLst>
                <a:ext uri="{FF2B5EF4-FFF2-40B4-BE49-F238E27FC236}">
                  <a16:creationId xmlns:a16="http://schemas.microsoft.com/office/drawing/2014/main" id="{5009FB1B-4865-45DB-8727-F012E3ACA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37" name="Freeform 37">
              <a:extLst>
                <a:ext uri="{FF2B5EF4-FFF2-40B4-BE49-F238E27FC236}">
                  <a16:creationId xmlns:a16="http://schemas.microsoft.com/office/drawing/2014/main" id="{5B209B64-3A98-4B1A-857A-2368AFED6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38" name="Freeform 38">
              <a:extLst>
                <a:ext uri="{FF2B5EF4-FFF2-40B4-BE49-F238E27FC236}">
                  <a16:creationId xmlns:a16="http://schemas.microsoft.com/office/drawing/2014/main" id="{EB3B5D03-7AE3-411C-A820-6844E7D0C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40" name="Freeform 11">
            <a:extLst>
              <a:ext uri="{FF2B5EF4-FFF2-40B4-BE49-F238E27FC236}">
                <a16:creationId xmlns:a16="http://schemas.microsoft.com/office/drawing/2014/main" id="{91328346-8BAD-4616-B50B-5CFDA5648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8" y="3312741"/>
            <a:ext cx="820355" cy="499191"/>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p:nvSpPr>
          <p:cNvPr id="3" name="Content Placeholder 2">
            <a:extLst>
              <a:ext uri="{FF2B5EF4-FFF2-40B4-BE49-F238E27FC236}">
                <a16:creationId xmlns:a16="http://schemas.microsoft.com/office/drawing/2014/main" id="{6A4DBC6C-8524-42B6-ACF9-BD334632CB61}"/>
              </a:ext>
            </a:extLst>
          </p:cNvPr>
          <p:cNvSpPr>
            <a:spLocks noGrp="1"/>
          </p:cNvSpPr>
          <p:nvPr>
            <p:ph idx="1"/>
          </p:nvPr>
        </p:nvSpPr>
        <p:spPr>
          <a:xfrm>
            <a:off x="2519694" y="2071863"/>
            <a:ext cx="6074311" cy="3668316"/>
          </a:xfrm>
        </p:spPr>
        <p:txBody>
          <a:bodyPr>
            <a:normAutofit/>
          </a:bodyPr>
          <a:lstStyle/>
          <a:p>
            <a:pPr algn="just">
              <a:buFont typeface="Wingdings" panose="05000000000000000000" pitchFamily="2" charset="2"/>
              <a:buChar char="q"/>
            </a:pPr>
            <a:r>
              <a:rPr lang="en-US" sz="1400" dirty="0">
                <a:latin typeface="Times New Roman" panose="02020603050405020304" pitchFamily="18" charset="0"/>
                <a:cs typeface="Times New Roman" panose="02020603050405020304" pitchFamily="18" charset="0"/>
              </a:rPr>
              <a:t>How to share keys among 4 terminals is a challenging problem in Shannon’s secrecy system. </a:t>
            </a:r>
          </a:p>
          <a:p>
            <a:pPr algn="just">
              <a:buFont typeface="Wingdings" panose="05000000000000000000" pitchFamily="2" charset="2"/>
              <a:buChar char="q"/>
            </a:pPr>
            <a:r>
              <a:rPr lang="en-US" sz="1400" dirty="0">
                <a:latin typeface="Times New Roman" panose="02020603050405020304" pitchFamily="18" charset="0"/>
                <a:cs typeface="Times New Roman" panose="02020603050405020304" pitchFamily="18" charset="0"/>
              </a:rPr>
              <a:t>Towards this end, the paper showed that public discussion can promote key sharing between two remote terminals with correlated observations.</a:t>
            </a:r>
          </a:p>
          <a:p>
            <a:pPr algn="just">
              <a:buFont typeface="Wingdings" panose="05000000000000000000" pitchFamily="2" charset="2"/>
              <a:buChar char="q"/>
            </a:pPr>
            <a:r>
              <a:rPr lang="en-US" sz="1400" dirty="0">
                <a:latin typeface="Times New Roman" panose="02020603050405020304" pitchFamily="18" charset="0"/>
                <a:cs typeface="Times New Roman" panose="02020603050405020304" pitchFamily="18" charset="0"/>
              </a:rPr>
              <a:t>Here we explain the problem of symmetric key generation with an untrusted helper, in which the two generated keys are required to be secure from both the eavesdropper and the helper terminal X3.</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3624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3"/>
            <a:ext cx="9107487" cy="6655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6612" cy="665956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F2037C0B-B455-433B-B011-FB6772E20261}"/>
              </a:ext>
            </a:extLst>
          </p:cNvPr>
          <p:cNvSpPr>
            <a:spLocks noGrp="1"/>
          </p:cNvSpPr>
          <p:nvPr>
            <p:ph idx="1"/>
          </p:nvPr>
        </p:nvSpPr>
        <p:spPr>
          <a:xfrm>
            <a:off x="437159" y="1501854"/>
            <a:ext cx="4911212" cy="3650479"/>
          </a:xfrm>
        </p:spPr>
        <p:txBody>
          <a:bodyPr>
            <a:normAutofit/>
          </a:bodyPr>
          <a:lstStyle/>
          <a:p>
            <a:pPr algn="just">
              <a:lnSpc>
                <a:spcPct val="90000"/>
              </a:lnSpc>
              <a:buFont typeface="Wingdings" panose="05000000000000000000" pitchFamily="2" charset="2"/>
              <a:buChar char="q"/>
            </a:pPr>
            <a:r>
              <a:rPr lang="en-US" sz="1400" dirty="0">
                <a:latin typeface="Times New Roman" panose="02020603050405020304" pitchFamily="18" charset="0"/>
                <a:cs typeface="Times New Roman" panose="02020603050405020304" pitchFamily="18" charset="0"/>
              </a:rPr>
              <a:t>The key capacity region for symmetric key generation with an untrusted helper contains rate pairs (R1, R2) which satisfies the following inequalities: </a:t>
            </a:r>
          </a:p>
          <a:p>
            <a:pPr marL="0" indent="0" algn="just">
              <a:lnSpc>
                <a:spcPct val="90000"/>
              </a:lnSpc>
              <a:buNone/>
            </a:pPr>
            <a:r>
              <a:rPr lang="en-US" sz="1400" dirty="0">
                <a:latin typeface="Times New Roman" panose="02020603050405020304" pitchFamily="18" charset="0"/>
                <a:cs typeface="Times New Roman" panose="02020603050405020304" pitchFamily="18" charset="0"/>
              </a:rPr>
              <a:t>           R1 &lt; I(X1; X0X2|X3), (1) </a:t>
            </a:r>
          </a:p>
          <a:p>
            <a:pPr marL="0" indent="0" algn="just">
              <a:lnSpc>
                <a:spcPct val="90000"/>
              </a:lnSpc>
              <a:buNone/>
            </a:pPr>
            <a:r>
              <a:rPr lang="en-US" sz="1400" dirty="0">
                <a:latin typeface="Times New Roman" panose="02020603050405020304" pitchFamily="18" charset="0"/>
                <a:cs typeface="Times New Roman" panose="02020603050405020304" pitchFamily="18" charset="0"/>
              </a:rPr>
              <a:t>           R2 &lt; I(X2; X0X1|X3), (2) </a:t>
            </a:r>
          </a:p>
          <a:p>
            <a:pPr marL="0" indent="0" algn="just">
              <a:lnSpc>
                <a:spcPct val="90000"/>
              </a:lnSpc>
              <a:buNone/>
            </a:pPr>
            <a:r>
              <a:rPr lang="en-US" sz="1400" dirty="0">
                <a:latin typeface="Times New Roman" panose="02020603050405020304" pitchFamily="18" charset="0"/>
                <a:cs typeface="Times New Roman" panose="02020603050405020304" pitchFamily="18" charset="0"/>
              </a:rPr>
              <a:t>           R1 + R2 &lt; I(X0; X1X2|X3). (3)</a:t>
            </a:r>
          </a:p>
          <a:p>
            <a:pPr algn="just">
              <a:lnSpc>
                <a:spcPct val="90000"/>
              </a:lnSpc>
              <a:buFont typeface="Wingdings" panose="05000000000000000000" pitchFamily="2" charset="2"/>
              <a:buChar char="q"/>
            </a:pPr>
            <a:r>
              <a:rPr lang="en-US" sz="1400" dirty="0">
                <a:latin typeface="Times New Roman" panose="02020603050405020304" pitchFamily="18" charset="0"/>
                <a:cs typeface="Times New Roman" panose="02020603050405020304" pitchFamily="18" charset="0"/>
              </a:rPr>
              <a:t>As we can see, the upper bound on R1 in (1) is due to the cut separating X0 and X1 terminals for generating secret key K1 (one more bound due to the other cut separating X0 and X1 is redundant due to the sum rate bound (3)). </a:t>
            </a:r>
          </a:p>
          <a:p>
            <a:pPr marL="0" indent="0" algn="just">
              <a:lnSpc>
                <a:spcPct val="90000"/>
              </a:lnSpc>
              <a:buNone/>
            </a:pPr>
            <a:r>
              <a:rPr lang="en-US" sz="1400" dirty="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A68CE25C-A930-410E-9DB4-B14430CAFF1B}"/>
              </a:ext>
            </a:extLst>
          </p:cNvPr>
          <p:cNvPicPr>
            <a:picLocks noChangeAspect="1"/>
          </p:cNvPicPr>
          <p:nvPr/>
        </p:nvPicPr>
        <p:blipFill>
          <a:blip r:embed="rId2"/>
          <a:stretch>
            <a:fillRect/>
          </a:stretch>
        </p:blipFill>
        <p:spPr>
          <a:xfrm>
            <a:off x="5648919" y="1888063"/>
            <a:ext cx="2974167" cy="2572654"/>
          </a:xfrm>
          <a:prstGeom prst="rect">
            <a:avLst/>
          </a:prstGeom>
        </p:spPr>
      </p:pic>
      <p:sp>
        <p:nvSpPr>
          <p:cNvPr id="14"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85840"/>
            <a:ext cx="775417" cy="491628"/>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230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3"/>
            <a:ext cx="9107487" cy="6655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6612" cy="665956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97F7393D-6D88-49DB-9FA9-03D4C43598D2}"/>
              </a:ext>
            </a:extLst>
          </p:cNvPr>
          <p:cNvSpPr>
            <a:spLocks noGrp="1"/>
          </p:cNvSpPr>
          <p:nvPr>
            <p:ph idx="1"/>
          </p:nvPr>
        </p:nvSpPr>
        <p:spPr>
          <a:xfrm>
            <a:off x="484402" y="1501854"/>
            <a:ext cx="4911212" cy="3650479"/>
          </a:xfrm>
        </p:spPr>
        <p:txBody>
          <a:bodyPr>
            <a:normAutofit/>
          </a:bodyPr>
          <a:lstStyle/>
          <a:p>
            <a:pPr algn="just">
              <a:lnSpc>
                <a:spcPct val="90000"/>
              </a:lnSpc>
            </a:pPr>
            <a:r>
              <a:rPr lang="en-US" sz="1400" dirty="0">
                <a:latin typeface="Times New Roman" panose="02020603050405020304" pitchFamily="18" charset="0"/>
                <a:cs typeface="Times New Roman" panose="02020603050405020304" pitchFamily="18" charset="0"/>
              </a:rPr>
              <a:t>The upper bound on R2 in (2) is due to the cut separating X0 and X2 terminals for generating secret key K2 (one more bound due to the other cut separating X0 and X1 is redundant due to the sum rate bound (3)). </a:t>
            </a:r>
          </a:p>
          <a:p>
            <a:pPr algn="just">
              <a:lnSpc>
                <a:spcPct val="90000"/>
              </a:lnSpc>
            </a:pPr>
            <a:r>
              <a:rPr lang="en-US" sz="1400" dirty="0">
                <a:latin typeface="Times New Roman" panose="02020603050405020304" pitchFamily="18" charset="0"/>
                <a:cs typeface="Times New Roman" panose="02020603050405020304" pitchFamily="18" charset="0"/>
              </a:rPr>
              <a:t>The sum rate bound (3) is due to the cut separating X0 and (X1, X2) for generating two keys K1 and K2 simultaneously.</a:t>
            </a:r>
          </a:p>
          <a:p>
            <a:pPr algn="just">
              <a:lnSpc>
                <a:spcPct val="90000"/>
              </a:lnSpc>
            </a:pPr>
            <a:r>
              <a:rPr lang="en-US" sz="1400" dirty="0">
                <a:latin typeface="Times New Roman" panose="02020603050405020304" pitchFamily="18" charset="0"/>
                <a:cs typeface="Times New Roman" panose="02020603050405020304" pitchFamily="18" charset="0"/>
              </a:rPr>
              <a:t>All the bounds (1) to (3) are conditioned on X3 because both K1 and K2 are required to be secure from terminal X3.</a:t>
            </a:r>
          </a:p>
          <a:p>
            <a:pPr algn="just">
              <a:lnSpc>
                <a:spcPct val="90000"/>
              </a:lnSpc>
            </a:pPr>
            <a:r>
              <a:rPr lang="en-US" sz="1400" dirty="0">
                <a:latin typeface="Times New Roman" panose="02020603050405020304" pitchFamily="18" charset="0"/>
                <a:cs typeface="Times New Roman" panose="02020603050405020304" pitchFamily="18" charset="0"/>
              </a:rPr>
              <a:t>This is reasonable because additional requirement for the keys needs to be hidden from the helper as the helper is untrusted.</a:t>
            </a:r>
            <a:endParaRPr lang="en-IN" sz="1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20EA200-1C7D-4C53-9B4B-D247AD38EE30}"/>
              </a:ext>
            </a:extLst>
          </p:cNvPr>
          <p:cNvPicPr>
            <a:picLocks noChangeAspect="1"/>
          </p:cNvPicPr>
          <p:nvPr/>
        </p:nvPicPr>
        <p:blipFill>
          <a:blip r:embed="rId2"/>
          <a:stretch>
            <a:fillRect/>
          </a:stretch>
        </p:blipFill>
        <p:spPr>
          <a:xfrm>
            <a:off x="5648919" y="1888063"/>
            <a:ext cx="2974167" cy="2572654"/>
          </a:xfrm>
          <a:prstGeom prst="rect">
            <a:avLst/>
          </a:prstGeom>
        </p:spPr>
      </p:pic>
      <p:sp>
        <p:nvSpPr>
          <p:cNvPr id="13"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85840"/>
            <a:ext cx="775417" cy="491628"/>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8302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7DA8593-5BA7-45F3-B447-37FB2B9F7E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3"/>
            <a:ext cx="9107487" cy="6655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35CBF17-C0BF-49C1-8FB7-B43A3545D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6612" cy="665956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FC7BCAB4-1CE6-4C21-BF40-A5C646F2E3B0}"/>
              </a:ext>
            </a:extLst>
          </p:cNvPr>
          <p:cNvSpPr>
            <a:spLocks noGrp="1"/>
          </p:cNvSpPr>
          <p:nvPr>
            <p:ph idx="1"/>
          </p:nvPr>
        </p:nvSpPr>
        <p:spPr>
          <a:xfrm>
            <a:off x="467395" y="1040491"/>
            <a:ext cx="4911212" cy="3650479"/>
          </a:xfrm>
        </p:spPr>
        <p:txBody>
          <a:bodyPr>
            <a:noAutofit/>
          </a:bodyPr>
          <a:lstStyle/>
          <a:p>
            <a:pPr>
              <a:lnSpc>
                <a:spcPct val="90000"/>
              </a:lnSpc>
            </a:pPr>
            <a:r>
              <a:rPr lang="en-US" sz="1400" dirty="0">
                <a:latin typeface="Times New Roman" panose="02020603050405020304" pitchFamily="18" charset="0"/>
                <a:cs typeface="Times New Roman" panose="02020603050405020304" pitchFamily="18" charset="0"/>
              </a:rPr>
              <a:t>The structure of the key capacity region is shown in the figure as the pentagon O-A-P-Q-B-O. </a:t>
            </a:r>
          </a:p>
          <a:p>
            <a:pPr>
              <a:lnSpc>
                <a:spcPct val="90000"/>
              </a:lnSpc>
            </a:pPr>
            <a:r>
              <a:rPr lang="en-US" sz="1400" dirty="0">
                <a:latin typeface="Times New Roman" panose="02020603050405020304" pitchFamily="18" charset="0"/>
                <a:cs typeface="Times New Roman" panose="02020603050405020304" pitchFamily="18" charset="0"/>
              </a:rPr>
              <a:t>In order to make sure the achievability of the region, by symmetry, it is sufficient to show the achievability of the point P in the figure.</a:t>
            </a:r>
          </a:p>
          <a:p>
            <a:pPr>
              <a:lnSpc>
                <a:spcPct val="90000"/>
              </a:lnSpc>
            </a:pPr>
            <a:r>
              <a:rPr lang="en-US" sz="1400" dirty="0">
                <a:latin typeface="Times New Roman" panose="02020603050405020304" pitchFamily="18" charset="0"/>
                <a:cs typeface="Times New Roman" panose="02020603050405020304" pitchFamily="18" charset="0"/>
              </a:rPr>
              <a:t>The idea to achieve the point P follows the unified strategy in which public discussion first guarantees that terminal X0 recovers Xn1, Xn2 and Xn3 correctly.</a:t>
            </a:r>
          </a:p>
          <a:p>
            <a:pPr>
              <a:lnSpc>
                <a:spcPct val="90000"/>
              </a:lnSpc>
            </a:pPr>
            <a:r>
              <a:rPr lang="en-US" sz="1400" dirty="0">
                <a:latin typeface="Times New Roman" panose="02020603050405020304" pitchFamily="18" charset="0"/>
                <a:cs typeface="Times New Roman" panose="02020603050405020304" pitchFamily="18" charset="0"/>
              </a:rPr>
              <a:t>Then K1 is generated by terminals X0 and X1 based on Xn1and K2 is generated by terminals X0 and X2 based on Xn2.</a:t>
            </a:r>
          </a:p>
          <a:p>
            <a:pPr>
              <a:lnSpc>
                <a:spcPct val="90000"/>
              </a:lnSpc>
            </a:pPr>
            <a:r>
              <a:rPr lang="en-US" sz="1400" dirty="0">
                <a:latin typeface="Times New Roman" panose="02020603050405020304" pitchFamily="18" charset="0"/>
                <a:cs typeface="Times New Roman" panose="02020603050405020304" pitchFamily="18" charset="0"/>
              </a:rPr>
              <a:t>Since the generated keys should be hidden from the helper terminal X3, </a:t>
            </a:r>
            <a:r>
              <a:rPr lang="en-US" sz="1400" dirty="0" err="1">
                <a:latin typeface="Times New Roman" panose="02020603050405020304" pitchFamily="18" charset="0"/>
                <a:cs typeface="Times New Roman" panose="02020603050405020304" pitchFamily="18" charset="0"/>
              </a:rPr>
              <a:t>Xn</a:t>
            </a:r>
            <a:r>
              <a:rPr lang="en-US" sz="1400" dirty="0">
                <a:latin typeface="Times New Roman" panose="02020603050405020304" pitchFamily="18" charset="0"/>
                <a:cs typeface="Times New Roman" panose="02020603050405020304" pitchFamily="18" charset="0"/>
              </a:rPr>
              <a:t> 3 cannot be used as random resource for generating the keys.</a:t>
            </a:r>
          </a:p>
          <a:p>
            <a:pPr>
              <a:lnSpc>
                <a:spcPct val="90000"/>
              </a:lnSpc>
            </a:pPr>
            <a:r>
              <a:rPr lang="en-US" sz="1400" dirty="0">
                <a:latin typeface="Times New Roman" panose="02020603050405020304" pitchFamily="18" charset="0"/>
                <a:cs typeface="Times New Roman" panose="02020603050405020304" pitchFamily="18" charset="0"/>
              </a:rPr>
              <a:t>The helper can still participate in the public discussion to assist the recovery of source sequences. </a:t>
            </a:r>
            <a:endParaRPr lang="en-IN" sz="1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93FA9FD-42F5-4142-96AD-7E79E1B77114}"/>
              </a:ext>
            </a:extLst>
          </p:cNvPr>
          <p:cNvPicPr>
            <a:picLocks noChangeAspect="1"/>
          </p:cNvPicPr>
          <p:nvPr/>
        </p:nvPicPr>
        <p:blipFill>
          <a:blip r:embed="rId2"/>
          <a:stretch>
            <a:fillRect/>
          </a:stretch>
        </p:blipFill>
        <p:spPr>
          <a:xfrm>
            <a:off x="5873580" y="626439"/>
            <a:ext cx="2524845" cy="2468036"/>
          </a:xfrm>
          <a:prstGeom prst="rect">
            <a:avLst/>
          </a:prstGeom>
        </p:spPr>
      </p:pic>
      <p:pic>
        <p:nvPicPr>
          <p:cNvPr id="4" name="Picture 3" descr="Chart, line chart&#10;&#10;Description automatically generated">
            <a:extLst>
              <a:ext uri="{FF2B5EF4-FFF2-40B4-BE49-F238E27FC236}">
                <a16:creationId xmlns:a16="http://schemas.microsoft.com/office/drawing/2014/main" id="{1217CB79-5506-431C-9B8F-50A30909B849}"/>
              </a:ext>
            </a:extLst>
          </p:cNvPr>
          <p:cNvPicPr>
            <a:picLocks noChangeAspect="1"/>
          </p:cNvPicPr>
          <p:nvPr/>
        </p:nvPicPr>
        <p:blipFill>
          <a:blip r:embed="rId3"/>
          <a:stretch>
            <a:fillRect/>
          </a:stretch>
        </p:blipFill>
        <p:spPr>
          <a:xfrm>
            <a:off x="5709390" y="3254305"/>
            <a:ext cx="2853222" cy="2468037"/>
          </a:xfrm>
          <a:prstGeom prst="rect">
            <a:avLst/>
          </a:prstGeom>
        </p:spPr>
      </p:pic>
      <p:sp>
        <p:nvSpPr>
          <p:cNvPr id="31" name="Freeform 11">
            <a:extLst>
              <a:ext uri="{FF2B5EF4-FFF2-40B4-BE49-F238E27FC236}">
                <a16:creationId xmlns:a16="http://schemas.microsoft.com/office/drawing/2014/main" id="{F5147F3F-3E4A-4255-8C92-856618C47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85840"/>
            <a:ext cx="775417" cy="491628"/>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8565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7DA8593-5BA7-45F3-B447-37FB2B9F7E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3"/>
            <a:ext cx="9107487" cy="66557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9" name="Rectangle 28">
            <a:extLst>
              <a:ext uri="{FF2B5EF4-FFF2-40B4-BE49-F238E27FC236}">
                <a16:creationId xmlns:a16="http://schemas.microsoft.com/office/drawing/2014/main" id="{035CBF17-C0BF-49C1-8FB7-B43A3545D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6612" cy="665956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FC7BCAB4-1CE6-4C21-BF40-A5C646F2E3B0}"/>
              </a:ext>
            </a:extLst>
          </p:cNvPr>
          <p:cNvSpPr>
            <a:spLocks noGrp="1"/>
          </p:cNvSpPr>
          <p:nvPr>
            <p:ph idx="1"/>
          </p:nvPr>
        </p:nvSpPr>
        <p:spPr>
          <a:xfrm>
            <a:off x="467395" y="1040491"/>
            <a:ext cx="4911212" cy="3650479"/>
          </a:xfrm>
        </p:spPr>
        <p:txBody>
          <a:bodyPr>
            <a:noAutofit/>
          </a:bodyPr>
          <a:lstStyle/>
          <a:p>
            <a:pPr algn="just">
              <a:lnSpc>
                <a:spcPct val="90000"/>
              </a:lnSpc>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Since the rate of K1 needs to be maximized, terminal X1 should reveal as little information as possible.</a:t>
            </a:r>
          </a:p>
          <a:p>
            <a:pPr algn="just">
              <a:lnSpc>
                <a:spcPct val="90000"/>
              </a:lnSpc>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In addition to it, terminals X2 and X3 first reveal information at the rate</a:t>
            </a:r>
          </a:p>
          <a:p>
            <a:pPr algn="just">
              <a:lnSpc>
                <a:spcPct val="90000"/>
              </a:lnSpc>
            </a:pPr>
            <a:endParaRPr lang="en-US" sz="1400" dirty="0">
              <a:latin typeface="Times New Roman" panose="02020603050405020304" pitchFamily="18" charset="0"/>
              <a:cs typeface="Times New Roman" panose="02020603050405020304" pitchFamily="18" charset="0"/>
            </a:endParaRPr>
          </a:p>
          <a:p>
            <a:pPr marL="0" indent="0" algn="just">
              <a:lnSpc>
                <a:spcPct val="90000"/>
              </a:lnSpc>
              <a:buNone/>
            </a:pPr>
            <a:r>
              <a:rPr lang="en-US" sz="1400" dirty="0">
                <a:latin typeface="Times New Roman" panose="02020603050405020304" pitchFamily="18" charset="0"/>
                <a:cs typeface="Times New Roman" panose="02020603050405020304" pitchFamily="18" charset="0"/>
              </a:rPr>
              <a:t>      so that terminal X1 needs to release only at    </a:t>
            </a:r>
          </a:p>
          <a:p>
            <a:pPr marL="0" indent="0" algn="just">
              <a:lnSpc>
                <a:spcPct val="90000"/>
              </a:lnSpc>
              <a:buNone/>
            </a:pPr>
            <a:r>
              <a:rPr lang="en-US" sz="1400" dirty="0">
                <a:latin typeface="Times New Roman" panose="02020603050405020304" pitchFamily="18" charset="0"/>
                <a:cs typeface="Times New Roman" panose="02020603050405020304" pitchFamily="18" charset="0"/>
              </a:rPr>
              <a:t>      the rate   </a:t>
            </a:r>
          </a:p>
          <a:p>
            <a:pPr marL="0" indent="0" algn="just">
              <a:lnSpc>
                <a:spcPct val="90000"/>
              </a:lnSpc>
              <a:buNone/>
            </a:pPr>
            <a:r>
              <a:rPr lang="en-US" sz="1400" dirty="0">
                <a:latin typeface="Times New Roman" panose="02020603050405020304" pitchFamily="18" charset="0"/>
                <a:cs typeface="Times New Roman" panose="02020603050405020304" pitchFamily="18" charset="0"/>
              </a:rPr>
              <a:t>      in order to X0 to recover Xn1. </a:t>
            </a:r>
          </a:p>
          <a:p>
            <a:pPr algn="just">
              <a:lnSpc>
                <a:spcPct val="90000"/>
              </a:lnSpc>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Since X3 is an untrusted helper, it can reveal information at any rate. </a:t>
            </a:r>
          </a:p>
          <a:p>
            <a:pPr algn="just">
              <a:lnSpc>
                <a:spcPct val="90000"/>
              </a:lnSpc>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So,R2 can be set to be H(X2|X0X3).</a:t>
            </a:r>
          </a:p>
          <a:p>
            <a:pPr algn="just">
              <a:lnSpc>
                <a:spcPct val="90000"/>
              </a:lnSpc>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Since the generation of K1 already uses up information contained in Xn1, K2 can be generated only based on information contained in Xn2 given Xn1 and Xn3 .</a:t>
            </a:r>
            <a:endParaRPr lang="en-IN" sz="1400" dirty="0">
              <a:latin typeface="Times New Roman" panose="02020603050405020304" pitchFamily="18" charset="0"/>
              <a:cs typeface="Times New Roman" panose="02020603050405020304" pitchFamily="18" charset="0"/>
            </a:endParaRPr>
          </a:p>
          <a:p>
            <a:pPr>
              <a:lnSpc>
                <a:spcPct val="90000"/>
              </a:lnSpc>
            </a:pPr>
            <a:endParaRPr lang="en-US" sz="1400" dirty="0">
              <a:latin typeface="Times New Roman" panose="02020603050405020304" pitchFamily="18" charset="0"/>
              <a:cs typeface="Times New Roman" panose="02020603050405020304" pitchFamily="18" charset="0"/>
            </a:endParaRPr>
          </a:p>
          <a:p>
            <a:pPr>
              <a:lnSpc>
                <a:spcPct val="90000"/>
              </a:lnSpc>
            </a:pPr>
            <a:endParaRPr lang="en-IN" sz="1400" dirty="0">
              <a:latin typeface="Times New Roman" panose="02020603050405020304" pitchFamily="18" charset="0"/>
              <a:cs typeface="Times New Roman" panose="02020603050405020304" pitchFamily="18" charset="0"/>
            </a:endParaRPr>
          </a:p>
        </p:txBody>
      </p:sp>
      <p:pic>
        <p:nvPicPr>
          <p:cNvPr id="4" name="Picture 3" descr="Chart, line chart&#10;&#10;Description automatically generated">
            <a:extLst>
              <a:ext uri="{FF2B5EF4-FFF2-40B4-BE49-F238E27FC236}">
                <a16:creationId xmlns:a16="http://schemas.microsoft.com/office/drawing/2014/main" id="{1217CB79-5506-431C-9B8F-50A30909B849}"/>
              </a:ext>
            </a:extLst>
          </p:cNvPr>
          <p:cNvPicPr>
            <a:picLocks noChangeAspect="1"/>
          </p:cNvPicPr>
          <p:nvPr/>
        </p:nvPicPr>
        <p:blipFill>
          <a:blip r:embed="rId2"/>
          <a:stretch>
            <a:fillRect/>
          </a:stretch>
        </p:blipFill>
        <p:spPr>
          <a:xfrm>
            <a:off x="5709390" y="3254305"/>
            <a:ext cx="2853222" cy="2468037"/>
          </a:xfrm>
          <a:prstGeom prst="rect">
            <a:avLst/>
          </a:prstGeom>
        </p:spPr>
      </p:pic>
      <p:sp>
        <p:nvSpPr>
          <p:cNvPr id="31" name="Freeform 11">
            <a:extLst>
              <a:ext uri="{FF2B5EF4-FFF2-40B4-BE49-F238E27FC236}">
                <a16:creationId xmlns:a16="http://schemas.microsoft.com/office/drawing/2014/main" id="{F5147F3F-3E4A-4255-8C92-856618C47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85840"/>
            <a:ext cx="775417" cy="491628"/>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9" name="Picture 8" descr="Diagram&#10;&#10;Description automatically generated">
            <a:extLst>
              <a:ext uri="{FF2B5EF4-FFF2-40B4-BE49-F238E27FC236}">
                <a16:creationId xmlns:a16="http://schemas.microsoft.com/office/drawing/2014/main" id="{8956C9CE-4F13-4345-A939-CF3B52FE00B4}"/>
              </a:ext>
            </a:extLst>
          </p:cNvPr>
          <p:cNvPicPr>
            <a:picLocks noChangeAspect="1"/>
          </p:cNvPicPr>
          <p:nvPr/>
        </p:nvPicPr>
        <p:blipFill>
          <a:blip r:embed="rId3"/>
          <a:stretch>
            <a:fillRect/>
          </a:stretch>
        </p:blipFill>
        <p:spPr>
          <a:xfrm>
            <a:off x="5955333" y="786269"/>
            <a:ext cx="2361336" cy="2308206"/>
          </a:xfrm>
          <a:prstGeom prst="rect">
            <a:avLst/>
          </a:prstGeom>
        </p:spPr>
      </p:pic>
      <p:pic>
        <p:nvPicPr>
          <p:cNvPr id="12" name="Picture 11">
            <a:extLst>
              <a:ext uri="{FF2B5EF4-FFF2-40B4-BE49-F238E27FC236}">
                <a16:creationId xmlns:a16="http://schemas.microsoft.com/office/drawing/2014/main" id="{C2052EDB-1A96-468E-9ADF-EE9C2FA507CB}"/>
              </a:ext>
            </a:extLst>
          </p:cNvPr>
          <p:cNvPicPr>
            <a:picLocks noChangeAspect="1"/>
          </p:cNvPicPr>
          <p:nvPr/>
        </p:nvPicPr>
        <p:blipFill>
          <a:blip r:embed="rId4"/>
          <a:stretch>
            <a:fillRect/>
          </a:stretch>
        </p:blipFill>
        <p:spPr>
          <a:xfrm>
            <a:off x="1651137" y="1932474"/>
            <a:ext cx="2361336" cy="318867"/>
          </a:xfrm>
          <a:prstGeom prst="rect">
            <a:avLst/>
          </a:prstGeom>
        </p:spPr>
      </p:pic>
      <p:pic>
        <p:nvPicPr>
          <p:cNvPr id="13" name="Picture 12">
            <a:extLst>
              <a:ext uri="{FF2B5EF4-FFF2-40B4-BE49-F238E27FC236}">
                <a16:creationId xmlns:a16="http://schemas.microsoft.com/office/drawing/2014/main" id="{7D92FC98-1153-4916-B778-C85200B9BF38}"/>
              </a:ext>
            </a:extLst>
          </p:cNvPr>
          <p:cNvPicPr>
            <a:picLocks noChangeAspect="1"/>
          </p:cNvPicPr>
          <p:nvPr/>
        </p:nvPicPr>
        <p:blipFill>
          <a:blip r:embed="rId5"/>
          <a:stretch>
            <a:fillRect/>
          </a:stretch>
        </p:blipFill>
        <p:spPr>
          <a:xfrm>
            <a:off x="1515811" y="2694280"/>
            <a:ext cx="2190750" cy="342900"/>
          </a:xfrm>
          <a:prstGeom prst="rect">
            <a:avLst/>
          </a:prstGeom>
        </p:spPr>
      </p:pic>
    </p:spTree>
    <p:extLst>
      <p:ext uri="{BB962C8B-B14F-4D97-AF65-F5344CB8AC3E}">
        <p14:creationId xmlns:p14="http://schemas.microsoft.com/office/powerpoint/2010/main" val="1985190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19FE08D8-CEA0-461E-870A-02CD15D9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32153" cy="66595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7E84A0-5DE6-4C31-AB20-3120E3C260A2}"/>
              </a:ext>
            </a:extLst>
          </p:cNvPr>
          <p:cNvSpPr>
            <a:spLocks noGrp="1"/>
          </p:cNvSpPr>
          <p:nvPr>
            <p:ph type="title"/>
          </p:nvPr>
        </p:nvSpPr>
        <p:spPr>
          <a:xfrm>
            <a:off x="941146" y="3011362"/>
            <a:ext cx="1833190" cy="2941689"/>
          </a:xfrm>
        </p:spPr>
        <p:txBody>
          <a:bodyPr>
            <a:normAutofit/>
          </a:bodyPr>
          <a:lstStyle/>
          <a:p>
            <a:r>
              <a:rPr lang="en-US" sz="2600">
                <a:solidFill>
                  <a:schemeClr val="bg1"/>
                </a:solidFill>
                <a:latin typeface="Times New Roman" panose="02020603050405020304" pitchFamily="18" charset="0"/>
                <a:cs typeface="Times New Roman" panose="02020603050405020304" pitchFamily="18" charset="0"/>
              </a:rPr>
              <a:t>PROOF</a:t>
            </a:r>
            <a:r>
              <a:rPr lang="en-US" sz="2600">
                <a:solidFill>
                  <a:schemeClr val="bg1"/>
                </a:solidFill>
              </a:rPr>
              <a:t> </a:t>
            </a:r>
            <a:r>
              <a:rPr lang="en-US" sz="2600">
                <a:solidFill>
                  <a:schemeClr val="bg1"/>
                </a:solidFill>
                <a:latin typeface="Times New Roman" panose="02020603050405020304" pitchFamily="18" charset="0"/>
                <a:cs typeface="Times New Roman" panose="02020603050405020304" pitchFamily="18" charset="0"/>
              </a:rPr>
              <a:t>OF THE</a:t>
            </a:r>
            <a:r>
              <a:rPr lang="en-US" sz="2600">
                <a:solidFill>
                  <a:schemeClr val="bg1"/>
                </a:solidFill>
              </a:rPr>
              <a:t> </a:t>
            </a:r>
            <a:br>
              <a:rPr lang="en-US" sz="2600">
                <a:solidFill>
                  <a:schemeClr val="bg1"/>
                </a:solidFill>
              </a:rPr>
            </a:br>
            <a:r>
              <a:rPr lang="en-IN" sz="2600">
                <a:solidFill>
                  <a:schemeClr val="bg1"/>
                </a:solidFill>
                <a:latin typeface="Times New Roman" panose="02020603050405020304" pitchFamily="18" charset="0"/>
                <a:cs typeface="Times New Roman" panose="02020603050405020304" pitchFamily="18" charset="0"/>
              </a:rPr>
              <a:t>THEOREM</a:t>
            </a:r>
            <a:endParaRPr lang="en-IN" sz="2600" dirty="0">
              <a:solidFill>
                <a:schemeClr val="bg1"/>
              </a:solidFill>
              <a:latin typeface="Times New Roman" panose="02020603050405020304" pitchFamily="18" charset="0"/>
              <a:cs typeface="Times New Roman" panose="02020603050405020304" pitchFamily="18" charset="0"/>
            </a:endParaRPr>
          </a:p>
        </p:txBody>
      </p:sp>
      <p:sp>
        <p:nvSpPr>
          <p:cNvPr id="39" name="Freeform 11">
            <a:extLst>
              <a:ext uri="{FF2B5EF4-FFF2-40B4-BE49-F238E27FC236}">
                <a16:creationId xmlns:a16="http://schemas.microsoft.com/office/drawing/2014/main" id="{2B982904-A46E-41DF-BA98-61E2300C7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8" y="3087889"/>
            <a:ext cx="820355" cy="499192"/>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useBgFill="1">
        <p:nvSpPr>
          <p:cNvPr id="41" name="Rectangle 40">
            <a:extLst>
              <a:ext uri="{FF2B5EF4-FFF2-40B4-BE49-F238E27FC236}">
                <a16:creationId xmlns:a16="http://schemas.microsoft.com/office/drawing/2014/main" id="{27018161-547E-48F7-A0D9-272C9EA5B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2439" y="0"/>
            <a:ext cx="5525048" cy="66595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ontent Placeholder 2">
            <a:extLst>
              <a:ext uri="{FF2B5EF4-FFF2-40B4-BE49-F238E27FC236}">
                <a16:creationId xmlns:a16="http://schemas.microsoft.com/office/drawing/2014/main" id="{66A08092-35C1-473B-8AA7-3A1F61DC8468}"/>
              </a:ext>
            </a:extLst>
          </p:cNvPr>
          <p:cNvSpPr>
            <a:spLocks noGrp="1"/>
          </p:cNvSpPr>
          <p:nvPr>
            <p:ph idx="1"/>
          </p:nvPr>
        </p:nvSpPr>
        <p:spPr>
          <a:xfrm>
            <a:off x="3068955" y="572658"/>
            <a:ext cx="6038531" cy="5818203"/>
          </a:xfrm>
        </p:spPr>
        <p:txBody>
          <a:bodyPr anchor="ctr">
            <a:normAutofit lnSpcReduction="10000"/>
          </a:bodyPr>
          <a:lstStyle/>
          <a:p>
            <a:pPr marL="0" indent="0">
              <a:lnSpc>
                <a:spcPct val="90000"/>
              </a:lnSpc>
              <a:buNone/>
            </a:pPr>
            <a:r>
              <a:rPr lang="en-US" sz="1600" dirty="0">
                <a:latin typeface="Times New Roman" panose="02020603050405020304" pitchFamily="18" charset="0"/>
                <a:cs typeface="Times New Roman" panose="02020603050405020304" pitchFamily="18" charset="0"/>
              </a:rPr>
              <a:t>There are different factors to be considered in order to prove that the findings are done. They are as follows:</a:t>
            </a:r>
          </a:p>
          <a:p>
            <a:pPr marL="0" indent="0">
              <a:lnSpc>
                <a:spcPct val="90000"/>
              </a:lnSpc>
              <a:buNone/>
            </a:pPr>
            <a:r>
              <a:rPr lang="en-US" sz="2000" b="1" dirty="0">
                <a:latin typeface="Times New Roman" panose="02020603050405020304" pitchFamily="18" charset="0"/>
                <a:cs typeface="Times New Roman" panose="02020603050405020304" pitchFamily="18" charset="0"/>
              </a:rPr>
              <a:t>P</a:t>
            </a:r>
            <a:r>
              <a:rPr lang="en-IN" sz="2000" b="1" dirty="0">
                <a:latin typeface="Times New Roman" panose="02020603050405020304" pitchFamily="18" charset="0"/>
                <a:cs typeface="Times New Roman" panose="02020603050405020304" pitchFamily="18" charset="0"/>
              </a:rPr>
              <a:t>roof of Converse. </a:t>
            </a:r>
          </a:p>
          <a:p>
            <a:pPr>
              <a:lnSpc>
                <a:spcPct val="9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Let’s say if we want to generate secret key K1, the model proposed reduces to the private key generation problem. </a:t>
            </a:r>
          </a:p>
          <a:p>
            <a:pPr>
              <a:lnSpc>
                <a:spcPct val="9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The key capacity is shown as</a:t>
            </a:r>
          </a:p>
          <a:p>
            <a:pPr marL="0" indent="0">
              <a:lnSpc>
                <a:spcPct val="90000"/>
              </a:lnSpc>
              <a:buNone/>
            </a:pPr>
            <a:r>
              <a:rPr lang="en-US" sz="1600" dirty="0">
                <a:latin typeface="Times New Roman" panose="02020603050405020304" pitchFamily="18" charset="0"/>
                <a:cs typeface="Times New Roman" panose="02020603050405020304" pitchFamily="18" charset="0"/>
              </a:rPr>
              <a:t>                      R1 = min{I(X1; X0X2|X3), I(X0; X1X2|X3)},</a:t>
            </a:r>
          </a:p>
          <a:p>
            <a:pPr marL="0" indent="0">
              <a:lnSpc>
                <a:spcPct val="90000"/>
              </a:lnSpc>
              <a:buNone/>
            </a:pPr>
            <a:r>
              <a:rPr lang="en-US" sz="1600" dirty="0">
                <a:latin typeface="Times New Roman" panose="02020603050405020304" pitchFamily="18" charset="0"/>
                <a:cs typeface="Times New Roman" panose="02020603050405020304" pitchFamily="18" charset="0"/>
              </a:rPr>
              <a:t>        which provides an outer bound on R1 which can be shown as </a:t>
            </a:r>
          </a:p>
          <a:p>
            <a:pPr marL="0" indent="0">
              <a:lnSpc>
                <a:spcPct val="90000"/>
              </a:lnSpc>
              <a:buNone/>
            </a:pPr>
            <a:r>
              <a:rPr lang="en-US" sz="1600" dirty="0">
                <a:latin typeface="Times New Roman" panose="02020603050405020304" pitchFamily="18" charset="0"/>
                <a:cs typeface="Times New Roman" panose="02020603050405020304" pitchFamily="18" charset="0"/>
              </a:rPr>
              <a:t>                                   R1 &lt; I(X1; X0X2|X3).</a:t>
            </a:r>
          </a:p>
          <a:p>
            <a:pPr>
              <a:lnSpc>
                <a:spcPct val="9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Let’s say if we want to generate secret key K2, the key capacity is shown to be R2 = min{I(X2; X0X1|X3), I(X0; X1X2|X3)}, which provides an outer bound on R2 which can be shown as</a:t>
            </a:r>
          </a:p>
          <a:p>
            <a:pPr marL="0" indent="0">
              <a:lnSpc>
                <a:spcPct val="90000"/>
              </a:lnSpc>
              <a:buNone/>
            </a:pPr>
            <a:r>
              <a:rPr lang="en-US" sz="1600" dirty="0">
                <a:latin typeface="Times New Roman" panose="02020603050405020304" pitchFamily="18" charset="0"/>
                <a:cs typeface="Times New Roman" panose="02020603050405020304" pitchFamily="18" charset="0"/>
              </a:rPr>
              <a:t>                                   R2 &lt; I(X2; X0X1|X3).</a:t>
            </a:r>
          </a:p>
          <a:p>
            <a:pPr>
              <a:lnSpc>
                <a:spcPct val="9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For the sum rate bound, if we consider an enhanced model by replacing terminals X1 and X2 with a super terminal </a:t>
            </a:r>
            <a:r>
              <a:rPr lang="en-US" sz="1600" dirty="0" err="1">
                <a:latin typeface="Times New Roman" panose="02020603050405020304" pitchFamily="18" charset="0"/>
                <a:cs typeface="Times New Roman" panose="02020603050405020304" pitchFamily="18" charset="0"/>
              </a:rPr>
              <a:t>Xs</a:t>
            </a:r>
            <a:r>
              <a:rPr lang="en-US" sz="1600" dirty="0">
                <a:latin typeface="Times New Roman" panose="02020603050405020304" pitchFamily="18" charset="0"/>
                <a:cs typeface="Times New Roman" panose="02020603050405020304" pitchFamily="18" charset="0"/>
              </a:rPr>
              <a:t> which observes both Xn1 and Xn2.</a:t>
            </a:r>
          </a:p>
          <a:p>
            <a:pPr>
              <a:lnSpc>
                <a:spcPct val="9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The rate of the private key between X0 and </a:t>
            </a:r>
            <a:r>
              <a:rPr lang="en-US" sz="1600" dirty="0" err="1">
                <a:latin typeface="Times New Roman" panose="02020603050405020304" pitchFamily="18" charset="0"/>
                <a:cs typeface="Times New Roman" panose="02020603050405020304" pitchFamily="18" charset="0"/>
              </a:rPr>
              <a:t>Xs</a:t>
            </a:r>
            <a:r>
              <a:rPr lang="en-US" sz="1600" dirty="0">
                <a:latin typeface="Times New Roman" panose="02020603050405020304" pitchFamily="18" charset="0"/>
                <a:cs typeface="Times New Roman" panose="02020603050405020304" pitchFamily="18" charset="0"/>
              </a:rPr>
              <a:t> concealed from terminal X3 is upper bounded by I(X0; X1, X2|X3), which yields the sum rate bound that can be shown as          </a:t>
            </a:r>
          </a:p>
          <a:p>
            <a:pPr marL="0" indent="0">
              <a:lnSpc>
                <a:spcPct val="90000"/>
              </a:lnSpc>
              <a:buNone/>
            </a:pPr>
            <a:r>
              <a:rPr lang="en-US" sz="1600" dirty="0">
                <a:latin typeface="Times New Roman" panose="02020603050405020304" pitchFamily="18" charset="0"/>
                <a:cs typeface="Times New Roman" panose="02020603050405020304" pitchFamily="18" charset="0"/>
              </a:rPr>
              <a:t>                                   R1 + R2 &lt; I(X0; X1X2|X3).</a:t>
            </a:r>
            <a:endParaRPr lang="en-US" sz="1600" b="1" dirty="0">
              <a:latin typeface="Times New Roman" panose="02020603050405020304" pitchFamily="18" charset="0"/>
              <a:cs typeface="Times New Roman" panose="02020603050405020304" pitchFamily="18" charset="0"/>
            </a:endParaRPr>
          </a:p>
          <a:p>
            <a:pPr>
              <a:lnSpc>
                <a:spcPct val="90000"/>
              </a:lnSpc>
            </a:pPr>
            <a:endParaRPr lang="en-IN" sz="1200" dirty="0"/>
          </a:p>
        </p:txBody>
      </p:sp>
    </p:spTree>
    <p:extLst>
      <p:ext uri="{BB962C8B-B14F-4D97-AF65-F5344CB8AC3E}">
        <p14:creationId xmlns:p14="http://schemas.microsoft.com/office/powerpoint/2010/main" val="3290956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7">
            <a:extLst>
              <a:ext uri="{FF2B5EF4-FFF2-40B4-BE49-F238E27FC236}">
                <a16:creationId xmlns:a16="http://schemas.microsoft.com/office/drawing/2014/main" id="{66AFD431-09B7-42CA-BF39-9FE5DBE53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07486" cy="6659562"/>
          </a:xfrm>
          <a:prstGeom prst="rect">
            <a:avLst/>
          </a:prstGeom>
          <a:solidFill>
            <a:schemeClr val="tx2"/>
          </a:solidFill>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grpSp>
        <p:nvGrpSpPr>
          <p:cNvPr id="29" name="Group 9">
            <a:extLst>
              <a:ext uri="{FF2B5EF4-FFF2-40B4-BE49-F238E27FC236}">
                <a16:creationId xmlns:a16="http://schemas.microsoft.com/office/drawing/2014/main" id="{9711C96E-3D2D-48C8-AAB9-C1CB02D1D5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89494" y="0"/>
            <a:ext cx="4614228" cy="6654952"/>
            <a:chOff x="2487613" y="285750"/>
            <a:chExt cx="2428876" cy="5654676"/>
          </a:xfrm>
          <a:solidFill>
            <a:schemeClr val="tx2">
              <a:lumMod val="90000"/>
            </a:schemeClr>
          </a:solidFill>
        </p:grpSpPr>
        <p:sp>
          <p:nvSpPr>
            <p:cNvPr id="11" name="Freeform 11">
              <a:extLst>
                <a:ext uri="{FF2B5EF4-FFF2-40B4-BE49-F238E27FC236}">
                  <a16:creationId xmlns:a16="http://schemas.microsoft.com/office/drawing/2014/main" id="{0D18AF42-7CD5-4754-91D4-1BE53B5D14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30" name="Freeform 12">
              <a:extLst>
                <a:ext uri="{FF2B5EF4-FFF2-40B4-BE49-F238E27FC236}">
                  <a16:creationId xmlns:a16="http://schemas.microsoft.com/office/drawing/2014/main" id="{A28C8F1A-9407-4D67-8250-D8923BC6DD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13" name="Freeform 13">
              <a:extLst>
                <a:ext uri="{FF2B5EF4-FFF2-40B4-BE49-F238E27FC236}">
                  <a16:creationId xmlns:a16="http://schemas.microsoft.com/office/drawing/2014/main" id="{5CE0A2B0-F7F1-442C-A287-CD6F729E2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31" name="Freeform 14">
              <a:extLst>
                <a:ext uri="{FF2B5EF4-FFF2-40B4-BE49-F238E27FC236}">
                  <a16:creationId xmlns:a16="http://schemas.microsoft.com/office/drawing/2014/main" id="{9E69CFA3-AE12-4EAF-A3A1-564BEEFEF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15" name="Freeform 15">
              <a:extLst>
                <a:ext uri="{FF2B5EF4-FFF2-40B4-BE49-F238E27FC236}">
                  <a16:creationId xmlns:a16="http://schemas.microsoft.com/office/drawing/2014/main" id="{ECB64037-2AE8-4CA9-AD8E-7ACC8618F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16" name="Freeform 16">
              <a:extLst>
                <a:ext uri="{FF2B5EF4-FFF2-40B4-BE49-F238E27FC236}">
                  <a16:creationId xmlns:a16="http://schemas.microsoft.com/office/drawing/2014/main" id="{8D319B10-EE8E-453F-A137-D7EEFA2089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17" name="Freeform 17">
              <a:extLst>
                <a:ext uri="{FF2B5EF4-FFF2-40B4-BE49-F238E27FC236}">
                  <a16:creationId xmlns:a16="http://schemas.microsoft.com/office/drawing/2014/main" id="{3283F486-509C-4A42-8EED-794A991D2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18" name="Freeform 18">
              <a:extLst>
                <a:ext uri="{FF2B5EF4-FFF2-40B4-BE49-F238E27FC236}">
                  <a16:creationId xmlns:a16="http://schemas.microsoft.com/office/drawing/2014/main" id="{EBBFBB12-E756-4386-9C17-CA5743838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19" name="Freeform 19">
              <a:extLst>
                <a:ext uri="{FF2B5EF4-FFF2-40B4-BE49-F238E27FC236}">
                  <a16:creationId xmlns:a16="http://schemas.microsoft.com/office/drawing/2014/main" id="{7ADD0E7E-F4A6-4B3F-8A2F-BCBFAFBA23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20" name="Freeform 20">
              <a:extLst>
                <a:ext uri="{FF2B5EF4-FFF2-40B4-BE49-F238E27FC236}">
                  <a16:creationId xmlns:a16="http://schemas.microsoft.com/office/drawing/2014/main" id="{C19FCFB7-5E71-4197-8EC7-2ACB6DB028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21" name="Freeform 21">
              <a:extLst>
                <a:ext uri="{FF2B5EF4-FFF2-40B4-BE49-F238E27FC236}">
                  <a16:creationId xmlns:a16="http://schemas.microsoft.com/office/drawing/2014/main" id="{EAA533FE-4903-48DD-A921-421A9C44AF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22" name="Freeform 22">
              <a:extLst>
                <a:ext uri="{FF2B5EF4-FFF2-40B4-BE49-F238E27FC236}">
                  <a16:creationId xmlns:a16="http://schemas.microsoft.com/office/drawing/2014/main" id="{54CC5D8E-0D6C-4021-B84E-5D6182C0E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sp>
        <p:nvSpPr>
          <p:cNvPr id="2" name="Title 1">
            <a:extLst>
              <a:ext uri="{FF2B5EF4-FFF2-40B4-BE49-F238E27FC236}">
                <a16:creationId xmlns:a16="http://schemas.microsoft.com/office/drawing/2014/main" id="{910FA87A-2289-4E07-94C7-543F89734CE6}"/>
              </a:ext>
            </a:extLst>
          </p:cNvPr>
          <p:cNvSpPr>
            <a:spLocks noGrp="1"/>
          </p:cNvSpPr>
          <p:nvPr>
            <p:ph type="title"/>
          </p:nvPr>
        </p:nvSpPr>
        <p:spPr>
          <a:xfrm>
            <a:off x="5856338" y="1126013"/>
            <a:ext cx="2736235" cy="4436081"/>
          </a:xfrm>
        </p:spPr>
        <p:txBody>
          <a:bodyPr anchor="ctr">
            <a:normAutofit/>
          </a:bodyPr>
          <a:lstStyle/>
          <a:p>
            <a:r>
              <a:rPr lang="en-IN" sz="2600">
                <a:solidFill>
                  <a:schemeClr val="bg1">
                    <a:lumMod val="95000"/>
                    <a:lumOff val="5000"/>
                  </a:schemeClr>
                </a:solidFill>
                <a:latin typeface="Times New Roman" panose="02020603050405020304" pitchFamily="18" charset="0"/>
                <a:cs typeface="Times New Roman" panose="02020603050405020304" pitchFamily="18" charset="0"/>
              </a:rPr>
              <a:t>Proof of Achievability: </a:t>
            </a:r>
            <a:endParaRPr lang="en-IN" sz="2600"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24" name="Freeform 6">
            <a:extLst>
              <a:ext uri="{FF2B5EF4-FFF2-40B4-BE49-F238E27FC236}">
                <a16:creationId xmlns:a16="http://schemas.microsoft.com/office/drawing/2014/main" id="{E7D63BAB-D0DB-4F66-92F9-4D2E0A2E5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624849"/>
            <a:ext cx="5647542" cy="5409866"/>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p>
      <p:sp>
        <p:nvSpPr>
          <p:cNvPr id="3" name="Content Placeholder 2">
            <a:extLst>
              <a:ext uri="{FF2B5EF4-FFF2-40B4-BE49-F238E27FC236}">
                <a16:creationId xmlns:a16="http://schemas.microsoft.com/office/drawing/2014/main" id="{2079F43B-D98A-4E8F-BBA7-7C327D05E942}"/>
              </a:ext>
            </a:extLst>
          </p:cNvPr>
          <p:cNvSpPr>
            <a:spLocks noGrp="1"/>
          </p:cNvSpPr>
          <p:nvPr>
            <p:ph idx="1"/>
          </p:nvPr>
        </p:nvSpPr>
        <p:spPr>
          <a:xfrm>
            <a:off x="39956" y="765313"/>
            <a:ext cx="4769886" cy="5178287"/>
          </a:xfrm>
        </p:spPr>
        <p:txBody>
          <a:bodyPr anchor="ctr">
            <a:normAutofit/>
          </a:bodyPr>
          <a:lstStyle/>
          <a:p>
            <a:pPr>
              <a:lnSpc>
                <a:spcPct val="90000"/>
              </a:lnSpc>
            </a:pPr>
            <a:r>
              <a:rPr lang="en-US" sz="1600">
                <a:solidFill>
                  <a:srgbClr val="FFFFFF"/>
                </a:solidFill>
                <a:latin typeface="Times New Roman" panose="02020603050405020304" pitchFamily="18" charset="0"/>
                <a:cs typeface="Times New Roman" panose="02020603050405020304" pitchFamily="18" charset="0"/>
              </a:rPr>
              <a:t>The key capacity region is the pentagon O-A-P-Q-B-O where the coordinates of the points A and B are given by min{I(X1; X0X2|X3), I(X0; X1X2|X3)} and min{I(X2; X0X1|X3), I(X0; X1X2|X3)}, respectively.</a:t>
            </a:r>
          </a:p>
          <a:p>
            <a:pPr>
              <a:lnSpc>
                <a:spcPct val="90000"/>
              </a:lnSpc>
            </a:pPr>
            <a:r>
              <a:rPr lang="en-US" sz="1600">
                <a:solidFill>
                  <a:srgbClr val="FFFFFF"/>
                </a:solidFill>
                <a:latin typeface="Times New Roman" panose="02020603050405020304" pitchFamily="18" charset="0"/>
                <a:cs typeface="Times New Roman" panose="02020603050405020304" pitchFamily="18" charset="0"/>
              </a:rPr>
              <a:t>The corner point A can be achieved by letting X2 be a dedicated helper in order to generate secret key K1.</a:t>
            </a:r>
          </a:p>
          <a:p>
            <a:pPr>
              <a:lnSpc>
                <a:spcPct val="90000"/>
              </a:lnSpc>
            </a:pPr>
            <a:r>
              <a:rPr lang="en-US" sz="1600">
                <a:solidFill>
                  <a:srgbClr val="FFFFFF"/>
                </a:solidFill>
                <a:latin typeface="Times New Roman" panose="02020603050405020304" pitchFamily="18" charset="0"/>
                <a:cs typeface="Times New Roman" panose="02020603050405020304" pitchFamily="18" charset="0"/>
              </a:rPr>
              <a:t>The corner point B can be achieved by letting X1 be a dedicated helper to generate K2 .</a:t>
            </a:r>
          </a:p>
          <a:p>
            <a:pPr>
              <a:lnSpc>
                <a:spcPct val="90000"/>
              </a:lnSpc>
            </a:pPr>
            <a:r>
              <a:rPr lang="en-US" sz="1600">
                <a:solidFill>
                  <a:srgbClr val="FFFFFF"/>
                </a:solidFill>
                <a:latin typeface="Times New Roman" panose="02020603050405020304" pitchFamily="18" charset="0"/>
                <a:cs typeface="Times New Roman" panose="02020603050405020304" pitchFamily="18" charset="0"/>
              </a:rPr>
              <a:t>We note that the point P would collapse to the point A </a:t>
            </a:r>
          </a:p>
          <a:p>
            <a:pPr marL="0" indent="0">
              <a:lnSpc>
                <a:spcPct val="90000"/>
              </a:lnSpc>
              <a:buNone/>
            </a:pPr>
            <a:r>
              <a:rPr lang="en-US" sz="1600">
                <a:solidFill>
                  <a:srgbClr val="FFFFFF"/>
                </a:solidFill>
                <a:latin typeface="Times New Roman" panose="02020603050405020304" pitchFamily="18" charset="0"/>
                <a:cs typeface="Times New Roman" panose="02020603050405020304" pitchFamily="18" charset="0"/>
              </a:rPr>
              <a:t>       if I(X0; X1X2|X3) ≤ I(X1; X0X2|X3).</a:t>
            </a:r>
          </a:p>
          <a:p>
            <a:pPr>
              <a:lnSpc>
                <a:spcPct val="90000"/>
              </a:lnSpc>
            </a:pPr>
            <a:r>
              <a:rPr lang="en-US" sz="1600">
                <a:solidFill>
                  <a:srgbClr val="FFFFFF"/>
                </a:solidFill>
                <a:latin typeface="Times New Roman" panose="02020603050405020304" pitchFamily="18" charset="0"/>
                <a:cs typeface="Times New Roman" panose="02020603050405020304" pitchFamily="18" charset="0"/>
              </a:rPr>
              <a:t>The point Q would collapse to the point B </a:t>
            </a:r>
          </a:p>
          <a:p>
            <a:pPr marL="0" indent="0">
              <a:lnSpc>
                <a:spcPct val="90000"/>
              </a:lnSpc>
              <a:buNone/>
            </a:pPr>
            <a:r>
              <a:rPr lang="en-US" sz="1600">
                <a:solidFill>
                  <a:srgbClr val="FFFFFF"/>
                </a:solidFill>
                <a:latin typeface="Times New Roman" panose="02020603050405020304" pitchFamily="18" charset="0"/>
                <a:cs typeface="Times New Roman" panose="02020603050405020304" pitchFamily="18" charset="0"/>
              </a:rPr>
              <a:t>       if I(X0; X1X2|X3) ≤ I(X2; X0X1|X3). </a:t>
            </a:r>
          </a:p>
          <a:p>
            <a:pPr>
              <a:lnSpc>
                <a:spcPct val="90000"/>
              </a:lnSpc>
            </a:pPr>
            <a:r>
              <a:rPr lang="en-US" sz="1600">
                <a:solidFill>
                  <a:srgbClr val="FFFFFF"/>
                </a:solidFill>
                <a:latin typeface="Times New Roman" panose="02020603050405020304" pitchFamily="18" charset="0"/>
                <a:cs typeface="Times New Roman" panose="02020603050405020304" pitchFamily="18" charset="0"/>
              </a:rPr>
              <a:t>Thus, it is sufficient to show that the corner points P and Q are achievable whenever they are different from the points A and B, respectively.</a:t>
            </a:r>
            <a:endParaRPr lang="en-IN" sz="16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844054"/>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16F0F56-7B4E-43DC-AA4A-7E1896ED1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2439" y="0"/>
            <a:ext cx="5525048" cy="66595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AEAAD1C9-1487-4C1B-8CA2-A565EA7B5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07488" cy="66595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A5F4AA7-D436-4D3E-9311-E3CAACDFAD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418756"/>
            <a:ext cx="9107487" cy="22408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89AE41F-9017-4C3B-B1CA-25B9E1509F89}"/>
              </a:ext>
            </a:extLst>
          </p:cNvPr>
          <p:cNvSpPr>
            <a:spLocks noGrp="1"/>
          </p:cNvSpPr>
          <p:nvPr>
            <p:ph idx="1"/>
          </p:nvPr>
        </p:nvSpPr>
        <p:spPr>
          <a:xfrm>
            <a:off x="1301932" y="630567"/>
            <a:ext cx="7294524" cy="3788189"/>
          </a:xfrm>
        </p:spPr>
        <p:txBody>
          <a:bodyPr>
            <a:normAutofit/>
          </a:bodyPr>
          <a:lstStyle/>
          <a:p>
            <a:pPr>
              <a:lnSpc>
                <a:spcPct val="90000"/>
              </a:lnSpc>
            </a:pPr>
            <a:r>
              <a:rPr lang="en-US" sz="1600">
                <a:latin typeface="Times New Roman" panose="02020603050405020304" pitchFamily="18" charset="0"/>
                <a:cs typeface="Times New Roman" panose="02020603050405020304" pitchFamily="18" charset="0"/>
              </a:rPr>
              <a:t>We note that since the secrecy requirements on K1 and K2 are symmetric, it is sufficient to show that the corner point P is achievable, and then the achievability of the point Q follows by symmetry. </a:t>
            </a:r>
          </a:p>
          <a:p>
            <a:pPr>
              <a:lnSpc>
                <a:spcPct val="90000"/>
              </a:lnSpc>
            </a:pPr>
            <a:r>
              <a:rPr lang="en-US" sz="1600">
                <a:latin typeface="Times New Roman" panose="02020603050405020304" pitchFamily="18" charset="0"/>
                <a:cs typeface="Times New Roman" panose="02020603050405020304" pitchFamily="18" charset="0"/>
              </a:rPr>
              <a:t>Furthermore, we assume that</a:t>
            </a:r>
          </a:p>
          <a:p>
            <a:pPr marL="0" indent="0">
              <a:lnSpc>
                <a:spcPct val="90000"/>
              </a:lnSpc>
              <a:buNone/>
            </a:pPr>
            <a:r>
              <a:rPr lang="en-US" sz="1600">
                <a:latin typeface="Times New Roman" panose="02020603050405020304" pitchFamily="18" charset="0"/>
                <a:cs typeface="Times New Roman" panose="02020603050405020304" pitchFamily="18" charset="0"/>
              </a:rPr>
              <a:t>                     I(X1; X0X2|X3) &lt; I(X0; X1X2|X3), </a:t>
            </a:r>
          </a:p>
          <a:p>
            <a:pPr marL="0" indent="0">
              <a:lnSpc>
                <a:spcPct val="90000"/>
              </a:lnSpc>
              <a:buNone/>
            </a:pPr>
            <a:r>
              <a:rPr lang="en-US" sz="1600">
                <a:latin typeface="Times New Roman" panose="02020603050405020304" pitchFamily="18" charset="0"/>
                <a:cs typeface="Times New Roman" panose="02020603050405020304" pitchFamily="18" charset="0"/>
              </a:rPr>
              <a:t>      which implies</a:t>
            </a:r>
          </a:p>
          <a:p>
            <a:pPr marL="0" indent="0">
              <a:lnSpc>
                <a:spcPct val="90000"/>
              </a:lnSpc>
              <a:buNone/>
            </a:pPr>
            <a:r>
              <a:rPr lang="en-US" sz="1600">
                <a:latin typeface="Times New Roman" panose="02020603050405020304" pitchFamily="18" charset="0"/>
                <a:cs typeface="Times New Roman" panose="02020603050405020304" pitchFamily="18" charset="0"/>
              </a:rPr>
              <a:t>                     H(X2|X0X3) &lt; H(X2|X1X3),</a:t>
            </a:r>
          </a:p>
          <a:p>
            <a:pPr marL="0" indent="0">
              <a:lnSpc>
                <a:spcPct val="90000"/>
              </a:lnSpc>
              <a:buNone/>
            </a:pPr>
            <a:r>
              <a:rPr lang="en-US" sz="1600">
                <a:latin typeface="Times New Roman" panose="02020603050405020304" pitchFamily="18" charset="0"/>
                <a:cs typeface="Times New Roman" panose="02020603050405020304" pitchFamily="18" charset="0"/>
              </a:rPr>
              <a:t>      because otherwise the point P would collapse to the point A </a:t>
            </a:r>
          </a:p>
          <a:p>
            <a:pPr marL="0" indent="0">
              <a:lnSpc>
                <a:spcPct val="90000"/>
              </a:lnSpc>
              <a:buNone/>
            </a:pPr>
            <a:r>
              <a:rPr lang="en-US" sz="1600">
                <a:latin typeface="Times New Roman" panose="02020603050405020304" pitchFamily="18" charset="0"/>
                <a:cs typeface="Times New Roman" panose="02020603050405020304" pitchFamily="18" charset="0"/>
              </a:rPr>
              <a:t>      and has been justified to be achievable.</a:t>
            </a:r>
          </a:p>
          <a:p>
            <a:pPr>
              <a:lnSpc>
                <a:spcPct val="90000"/>
              </a:lnSpc>
            </a:pPr>
            <a:r>
              <a:rPr lang="en-US" sz="1600">
                <a:latin typeface="Times New Roman" panose="02020603050405020304" pitchFamily="18" charset="0"/>
                <a:cs typeface="Times New Roman" panose="02020603050405020304" pitchFamily="18" charset="0"/>
              </a:rPr>
              <a:t>To mention particularly, Slepian-Wolf conditions also guarantee the correct key establishment.</a:t>
            </a:r>
            <a:endParaRPr lang="en-IN" sz="1600" dirty="0">
              <a:latin typeface="Times New Roman" panose="02020603050405020304" pitchFamily="18" charset="0"/>
              <a:cs typeface="Times New Roman" panose="02020603050405020304" pitchFamily="18" charset="0"/>
            </a:endParaRPr>
          </a:p>
        </p:txBody>
      </p:sp>
      <p:sp>
        <p:nvSpPr>
          <p:cNvPr id="14" name="Freeform 11">
            <a:extLst>
              <a:ext uri="{FF2B5EF4-FFF2-40B4-BE49-F238E27FC236}">
                <a16:creationId xmlns:a16="http://schemas.microsoft.com/office/drawing/2014/main" id="{5C6FA62F-E948-4EBA-AE1A-47CBEE9FC5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3129" y="4873892"/>
            <a:ext cx="1186637" cy="49261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Tree>
    <p:extLst>
      <p:ext uri="{BB962C8B-B14F-4D97-AF65-F5344CB8AC3E}">
        <p14:creationId xmlns:p14="http://schemas.microsoft.com/office/powerpoint/2010/main" val="466270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33BE4-04CF-4229-B90A-3CAAEB7A2DA3}"/>
              </a:ext>
            </a:extLst>
          </p:cNvPr>
          <p:cNvSpPr>
            <a:spLocks noGrp="1"/>
          </p:cNvSpPr>
          <p:nvPr>
            <p:ph type="title"/>
          </p:nvPr>
        </p:nvSpPr>
        <p:spPr/>
        <p:txBody>
          <a:bodyPr/>
          <a:lstStyle/>
          <a:p>
            <a:r>
              <a:rPr lang="en-IN" b="1" dirty="0"/>
              <a:t>PROOF OF SECRECY</a:t>
            </a:r>
          </a:p>
        </p:txBody>
      </p:sp>
      <p:sp>
        <p:nvSpPr>
          <p:cNvPr id="3" name="Content Placeholder 2">
            <a:extLst>
              <a:ext uri="{FF2B5EF4-FFF2-40B4-BE49-F238E27FC236}">
                <a16:creationId xmlns:a16="http://schemas.microsoft.com/office/drawing/2014/main" id="{CFAB3225-ED1F-43EC-BBF0-35F177C9AE36}"/>
              </a:ext>
            </a:extLst>
          </p:cNvPr>
          <p:cNvSpPr>
            <a:spLocks noGrp="1"/>
          </p:cNvSpPr>
          <p:nvPr>
            <p:ph idx="1"/>
          </p:nvPr>
        </p:nvSpPr>
        <p:spPr>
          <a:xfrm>
            <a:off x="701798" y="1531933"/>
            <a:ext cx="8219660" cy="3981648"/>
          </a:xfrm>
        </p:spPr>
        <p:txBody>
          <a:bodyPr>
            <a:noAutofit/>
          </a:bodyPr>
          <a:lstStyle/>
          <a:p>
            <a:pPr marL="0" indent="0">
              <a:buNone/>
            </a:pPr>
            <a:r>
              <a:rPr lang="en-US" sz="1200" dirty="0">
                <a:latin typeface="Times New Roman" panose="02020603050405020304" pitchFamily="18" charset="0"/>
                <a:cs typeface="Times New Roman" panose="02020603050405020304" pitchFamily="18" charset="0"/>
              </a:rPr>
              <a:t>The key leakage rates averaged over the random codebook ensemble is evaluated.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Let f := f(X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g := g(X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and l := l(X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Then it is clear that F = {f, g, l}. We further let φ := φ(X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and ψ := ψ(X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Hence, K1 = φ and K2 = ψ. </a:t>
            </a:r>
            <a:r>
              <a:rPr lang="en-IN" sz="1200" dirty="0">
                <a:latin typeface="Times New Roman" panose="02020603050405020304" pitchFamily="18" charset="0"/>
                <a:ea typeface="Calibri" panose="020F0502020204030204" pitchFamily="34" charset="0"/>
                <a:cs typeface="Times New Roman" panose="02020603050405020304" pitchFamily="18" charset="0"/>
              </a:rPr>
              <a:t>Firstly</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I(K1, K2;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F|C) </a:t>
            </a:r>
          </a:p>
          <a:p>
            <a:pPr marL="0" indent="0">
              <a:buNone/>
            </a:pP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I(φ, ψ; f, g, l,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a:t>
            </a:r>
          </a:p>
          <a:p>
            <a:pPr marL="0" indent="0">
              <a:buNone/>
            </a:pP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I(φ; f, g,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 I(ψ; f, g,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|φ, C)</a:t>
            </a:r>
          </a:p>
          <a:p>
            <a:pPr marL="0" indent="0">
              <a:buNone/>
            </a:pP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I(φ; f|C) + I(φ, f; g,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 I(ψ; φ, f, g,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|C) </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I(φ; f|C) + I(φ, f; g,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 I(ψ; g|C) + I(ψ, g; φ, f,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a:t>
            </a:r>
          </a:p>
          <a:p>
            <a:pPr marL="0" indent="0">
              <a:buNone/>
            </a:pP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I(φ; f|C) + I(φ, f;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|C) + I(φ, f; g|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 I(ψ; g|C)</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I(ψ, g;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|C) + I(ψ, g; φ, f|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a:t>
            </a:r>
            <a:r>
              <a:rPr lang="en-IN" sz="1200" dirty="0">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r>
              <a:rPr lang="en-US" sz="1200" dirty="0">
                <a:latin typeface="Times New Roman" panose="02020603050405020304" pitchFamily="18" charset="0"/>
                <a:cs typeface="Times New Roman" panose="02020603050405020304" pitchFamily="18" charset="0"/>
              </a:rPr>
              <a:t>We consider each of the six terms in (1).  it can be shown that if</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R˜ 1 + R1 &lt; H(X1) − 2δ(Ɛ), ------------(</a:t>
            </a:r>
            <a:r>
              <a:rPr lang="en-IN" sz="1200" dirty="0">
                <a:latin typeface="Times New Roman" panose="02020603050405020304" pitchFamily="18" charset="0"/>
                <a:ea typeface="Calibri" panose="020F0502020204030204" pitchFamily="34" charset="0"/>
                <a:cs typeface="Times New Roman" panose="02020603050405020304" pitchFamily="18" charset="0"/>
              </a:rPr>
              <a:t>2</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then                                    1 /n I(φ; f|C) &lt; δ(Ɛ);           ------------(3)   and </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if                                          R˜ 2 + R2 &lt; H(X2) − 2δ(Ɛ), ------------(4)</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then                                    1/ n I(ψ; g|C) &lt; δ(Ɛ).          ------------(5)</a:t>
            </a:r>
          </a:p>
          <a:p>
            <a:pPr marL="0" indent="0">
              <a:buNone/>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IN" sz="1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330688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28AC59-A48F-4A39-9142-9B87A162633B}"/>
              </a:ext>
            </a:extLst>
          </p:cNvPr>
          <p:cNvSpPr>
            <a:spLocks noGrp="1"/>
          </p:cNvSpPr>
          <p:nvPr>
            <p:ph idx="1"/>
          </p:nvPr>
        </p:nvSpPr>
        <p:spPr>
          <a:xfrm>
            <a:off x="1673403" y="504321"/>
            <a:ext cx="6565663" cy="4973370"/>
          </a:xfrm>
        </p:spPr>
        <p:txBody>
          <a:bodyPr>
            <a:noAutofit/>
          </a:bodyPr>
          <a:lstStyle/>
          <a:p>
            <a:pPr marL="0" indent="0">
              <a:buNone/>
            </a:pPr>
            <a:r>
              <a:rPr lang="en-US" sz="1200" dirty="0">
                <a:latin typeface="Times New Roman" panose="02020603050405020304" pitchFamily="18" charset="0"/>
                <a:cs typeface="Times New Roman" panose="02020603050405020304" pitchFamily="18" charset="0"/>
              </a:rPr>
              <a:t>In order to bound the second term in (1), we have the following derivation:</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I(φ, f;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|C) </a:t>
            </a:r>
            <a:br>
              <a:rPr lang="en-IN" sz="1200" dirty="0">
                <a:effectLst/>
                <a:latin typeface="Times New Roman" panose="02020603050405020304" pitchFamily="18" charset="0"/>
                <a:ea typeface="Calibri" panose="020F0502020204030204" pitchFamily="34" charset="0"/>
                <a:cs typeface="Times New Roman" panose="02020603050405020304" pitchFamily="18" charset="0"/>
              </a:rPr>
            </a:b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I(X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|C) − I(X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|φ, f, C) </a:t>
            </a:r>
          </a:p>
          <a:p>
            <a:pPr marL="0" indent="0">
              <a:buNone/>
            </a:pP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H(X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|C) − H(X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 H(X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|φ, f, C)</a:t>
            </a:r>
          </a:p>
          <a:p>
            <a:pPr marL="0" indent="0">
              <a:buNone/>
            </a:pP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H(X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|φ, f,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a:t>
            </a:r>
          </a:p>
          <a:p>
            <a:pPr marL="0" indent="0">
              <a:buNone/>
            </a:pP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n[R˜ 1 + R1 − H(X1|X3)] + H(X n 1 |φ, f,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a:t>
            </a:r>
          </a:p>
          <a:p>
            <a:pPr marL="0" indent="0">
              <a:buNone/>
            </a:pPr>
            <a:r>
              <a:rPr lang="en-US" sz="1200" dirty="0">
                <a:latin typeface="Times New Roman" panose="02020603050405020304" pitchFamily="18" charset="0"/>
                <a:cs typeface="Times New Roman" panose="02020603050405020304" pitchFamily="18" charset="0"/>
              </a:rPr>
              <a:t>if</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R˜ 1 + R1 ≤ H(X1|X3) − 2δ(Ɛ), ----------(</a:t>
            </a:r>
            <a:r>
              <a:rPr lang="en-IN" sz="1200" dirty="0">
                <a:latin typeface="Times New Roman" panose="02020603050405020304" pitchFamily="18" charset="0"/>
                <a:ea typeface="Calibri" panose="020F0502020204030204" pitchFamily="34" charset="0"/>
                <a:cs typeface="Times New Roman" panose="02020603050405020304" pitchFamily="18" charset="0"/>
              </a:rPr>
              <a:t>6</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Then              </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lim sup n→∞ 1/n H(X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|φ, f,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&lt; H(X1|X3) − R˜ 1 − R1 + δ(Ɛ)----(7)</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Consequently, </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1/n I(φ, f;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&lt; δ(Ɛ)------------- (8) </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Similarly, it can be shown that if</a:t>
            </a:r>
          </a:p>
          <a:p>
            <a:pPr marL="0" indent="0">
              <a:buNone/>
            </a:pP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R˜ 2 + R2 ≤ H(X2|X3) − 2δ(Ɛ), ------------(</a:t>
            </a:r>
            <a:r>
              <a:rPr lang="en-IN" sz="1200" dirty="0">
                <a:latin typeface="Times New Roman" panose="02020603050405020304" pitchFamily="18" charset="0"/>
                <a:ea typeface="Calibri" panose="020F0502020204030204" pitchFamily="34" charset="0"/>
                <a:cs typeface="Times New Roman" panose="02020603050405020304" pitchFamily="18" charset="0"/>
              </a:rPr>
              <a:t>9</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then </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1/n I(ψ, g;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|C) &lt; δ(Ɛ)------------------- (</a:t>
            </a:r>
            <a:r>
              <a:rPr lang="en-IN" sz="1200" dirty="0">
                <a:latin typeface="Times New Roman" panose="02020603050405020304" pitchFamily="18" charset="0"/>
                <a:ea typeface="Calibri" panose="020F0502020204030204" pitchFamily="34" charset="0"/>
                <a:cs typeface="Times New Roman" panose="02020603050405020304" pitchFamily="18" charset="0"/>
              </a:rPr>
              <a:t>10</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79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DE498A-2618-4B45-8774-E23294DC5C13}"/>
              </a:ext>
            </a:extLst>
          </p:cNvPr>
          <p:cNvSpPr>
            <a:spLocks noGrp="1"/>
          </p:cNvSpPr>
          <p:nvPr>
            <p:ph idx="1"/>
          </p:nvPr>
        </p:nvSpPr>
        <p:spPr>
          <a:xfrm>
            <a:off x="1760489" y="782996"/>
            <a:ext cx="6565663" cy="3668316"/>
          </a:xfrm>
        </p:spPr>
        <p:txBody>
          <a:bodyPr>
            <a:noAutofit/>
          </a:bodyPr>
          <a:lstStyle/>
          <a:p>
            <a:pPr marL="0" indent="0">
              <a:buNone/>
            </a:pPr>
            <a:r>
              <a:rPr lang="en-US" sz="1200" dirty="0">
                <a:latin typeface="Times New Roman" panose="02020603050405020304" pitchFamily="18" charset="0"/>
                <a:cs typeface="Times New Roman" panose="02020603050405020304" pitchFamily="18" charset="0"/>
              </a:rPr>
              <a:t>By noting that I(φ, f; g|</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latin typeface="Times New Roman" panose="02020603050405020304" pitchFamily="18" charset="0"/>
                <a:ea typeface="Calibri" panose="020F0502020204030204" pitchFamily="34" charset="0"/>
                <a:cs typeface="Times New Roman" panose="02020603050405020304" pitchFamily="18" charset="0"/>
              </a:rPr>
              <a:t>3</a:t>
            </a:r>
            <a:r>
              <a:rPr lang="en-US" sz="1200" dirty="0">
                <a:latin typeface="Times New Roman" panose="02020603050405020304" pitchFamily="18" charset="0"/>
                <a:cs typeface="Times New Roman" panose="02020603050405020304" pitchFamily="18" charset="0"/>
              </a:rPr>
              <a:t> , C) ≤ I(ψ, g; φ, f|</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latin typeface="Times New Roman" panose="02020603050405020304" pitchFamily="18" charset="0"/>
                <a:ea typeface="Calibri" panose="020F0502020204030204" pitchFamily="34" charset="0"/>
                <a:cs typeface="Times New Roman" panose="02020603050405020304" pitchFamily="18" charset="0"/>
              </a:rPr>
              <a:t>3</a:t>
            </a:r>
            <a:r>
              <a:rPr lang="en-US" sz="1200" dirty="0">
                <a:latin typeface="Times New Roman" panose="02020603050405020304" pitchFamily="18" charset="0"/>
                <a:cs typeface="Times New Roman" panose="02020603050405020304" pitchFamily="18" charset="0"/>
              </a:rPr>
              <a:t> , C), it is sufficient to bound the latter term:</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I(ψ, g; φ, f|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a:t>
            </a:r>
          </a:p>
          <a:p>
            <a:pPr marL="0" indent="0">
              <a:buNone/>
            </a:pP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I(ψ, g;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a:t>
            </a:r>
          </a:p>
          <a:p>
            <a:pPr marL="0" indent="0">
              <a:buNone/>
            </a:pP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I(X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 I(X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|g, ψ,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C)</a:t>
            </a:r>
          </a:p>
          <a:p>
            <a:pPr marL="0" indent="0">
              <a:buNone/>
            </a:pP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H(X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 H(X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a:t>
            </a:r>
          </a:p>
          <a:p>
            <a:pPr marL="0" indent="0">
              <a:buNone/>
            </a:pP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H(X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|g, ψ,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 H(X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|g, ψ,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a:t>
            </a:r>
          </a:p>
          <a:p>
            <a:pPr marL="0" indent="0">
              <a:buNone/>
            </a:pP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n[R˜ 2 + R2 − H(X2|X1X3)] + H(X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|g, ψ,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if </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R˜ 2 + R2 &lt; H(X2|X1X3) − 2δ(Ɛ),-------- (</a:t>
            </a:r>
            <a:r>
              <a:rPr lang="en-IN" sz="1200" dirty="0">
                <a:latin typeface="Times New Roman" panose="02020603050405020304" pitchFamily="18" charset="0"/>
                <a:ea typeface="Calibri" panose="020F0502020204030204" pitchFamily="34" charset="0"/>
                <a:cs typeface="Times New Roman" panose="02020603050405020304" pitchFamily="18" charset="0"/>
              </a:rPr>
              <a:t>11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then </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lim sup n→∞ 1/ n H(X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|g, ψ,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&lt; H(X2|X1X3) − R˜ 2 − R2 + δ(Ɛ)</a:t>
            </a:r>
          </a:p>
          <a:p>
            <a:pPr marL="0" indent="0">
              <a:buNone/>
            </a:pP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Consequently,</a:t>
            </a:r>
          </a:p>
          <a:p>
            <a:pPr marL="0" indent="0">
              <a:buNone/>
            </a:pP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1/n I(f, φ; g, ψ| X</a:t>
            </a:r>
            <a:r>
              <a:rPr lang="en-IN" sz="1200" baseline="30000" dirty="0">
                <a:effectLst/>
                <a:latin typeface="Times New Roman" panose="02020603050405020304" pitchFamily="18" charset="0"/>
                <a:ea typeface="Calibri" panose="020F0502020204030204" pitchFamily="34" charset="0"/>
                <a:cs typeface="Times New Roman" panose="02020603050405020304" pitchFamily="18" charset="0"/>
              </a:rPr>
              <a:t>n</a:t>
            </a:r>
            <a:r>
              <a:rPr lang="en-IN" sz="1200" baseline="-250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C) &lt; δ(Ɛ) ------------------(</a:t>
            </a:r>
            <a:r>
              <a:rPr lang="en-IN" sz="1200" dirty="0">
                <a:latin typeface="Times New Roman" panose="02020603050405020304" pitchFamily="18" charset="0"/>
                <a:ea typeface="Calibri" panose="020F0502020204030204" pitchFamily="34" charset="0"/>
                <a:cs typeface="Times New Roman" panose="02020603050405020304" pitchFamily="18" charset="0"/>
              </a:rPr>
              <a:t>12</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1441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653214-5B84-4A1C-8EFD-6ECB356EF9CD}"/>
              </a:ext>
            </a:extLst>
          </p:cNvPr>
          <p:cNvSpPr>
            <a:spLocks noGrp="1"/>
          </p:cNvSpPr>
          <p:nvPr>
            <p:ph idx="1"/>
          </p:nvPr>
        </p:nvSpPr>
        <p:spPr>
          <a:xfrm>
            <a:off x="1507940" y="1244549"/>
            <a:ext cx="6565663" cy="4564068"/>
          </a:xfrm>
        </p:spPr>
        <p:txBody>
          <a:bodyPr>
            <a:normAutofit/>
          </a:bodyPr>
          <a:lstStyle/>
          <a:p>
            <a:pPr marL="0" indent="0">
              <a:buNone/>
            </a:pPr>
            <a:r>
              <a:rPr lang="en-US" sz="1200" dirty="0">
                <a:latin typeface="Times New Roman" panose="02020603050405020304" pitchFamily="18" charset="0"/>
                <a:cs typeface="Times New Roman" panose="02020603050405020304" pitchFamily="18" charset="0"/>
              </a:rPr>
              <a:t>Thus, (6) and (12) are sufficient conditions that guarantee the secrecy requirement (5).</a:t>
            </a:r>
          </a:p>
          <a:p>
            <a:pPr marL="0" indent="0">
              <a:buNone/>
            </a:pPr>
            <a:r>
              <a:rPr lang="en-IN" sz="1200" dirty="0">
                <a:latin typeface="Times New Roman" panose="02020603050405020304" pitchFamily="18" charset="0"/>
                <a:cs typeface="Times New Roman" panose="02020603050405020304" pitchFamily="18" charset="0"/>
              </a:rPr>
              <a:t>The rate pair at point P is given by (I(X1; X0X2|X3), H(X2|X1X3) − H(X2|X0X3)). To achieve this rate pair, we set the binning rates as follows:</a:t>
            </a:r>
          </a:p>
          <a:p>
            <a:pPr marL="0" indent="0">
              <a:buNone/>
            </a:pPr>
            <a:r>
              <a:rPr lang="en-IN" sz="1200" dirty="0">
                <a:latin typeface="Times New Roman" panose="02020603050405020304" pitchFamily="18" charset="0"/>
                <a:cs typeface="Times New Roman" panose="02020603050405020304" pitchFamily="18" charset="0"/>
              </a:rPr>
              <a:t>                    R˜ 1 = H(X1|X0X2X3) +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Ɛ</a:t>
            </a:r>
            <a:r>
              <a:rPr lang="en-IN" sz="1200" dirty="0">
                <a:latin typeface="Times New Roman" panose="02020603050405020304" pitchFamily="18" charset="0"/>
                <a:cs typeface="Times New Roman" panose="02020603050405020304" pitchFamily="18" charset="0"/>
              </a:rPr>
              <a:t>,--------------- (14) </a:t>
            </a:r>
          </a:p>
          <a:p>
            <a:pPr marL="0" indent="0">
              <a:buNone/>
            </a:pPr>
            <a:r>
              <a:rPr lang="en-IN" sz="1200" dirty="0">
                <a:latin typeface="Times New Roman" panose="02020603050405020304" pitchFamily="18" charset="0"/>
                <a:cs typeface="Times New Roman" panose="02020603050405020304" pitchFamily="18" charset="0"/>
              </a:rPr>
              <a:t>                    R1 = I(X1; X0X2|X3) − 2</a:t>
            </a:r>
            <a:r>
              <a:rPr lang="el-GR" sz="1200" dirty="0">
                <a:latin typeface="Times New Roman" panose="02020603050405020304" pitchFamily="18" charset="0"/>
                <a:cs typeface="Times New Roman" panose="02020603050405020304" pitchFamily="18" charset="0"/>
              </a:rPr>
              <a:t>δ(</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Ɛ</a:t>
            </a:r>
            <a:r>
              <a:rPr lang="el-GR" sz="1200" dirty="0">
                <a:latin typeface="Times New Roman" panose="02020603050405020304" pitchFamily="18" charset="0"/>
                <a:cs typeface="Times New Roman" panose="02020603050405020304" pitchFamily="18" charset="0"/>
              </a:rPr>
              <a:t>) − 2</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 Ɛ</a:t>
            </a:r>
            <a:r>
              <a:rPr lang="el-GR"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a:t>
            </a:r>
            <a:r>
              <a:rPr lang="el-GR" sz="1200" dirty="0">
                <a:latin typeface="Times New Roman" panose="02020603050405020304" pitchFamily="18" charset="0"/>
                <a:cs typeface="Times New Roman" panose="02020603050405020304" pitchFamily="18" charset="0"/>
              </a:rPr>
              <a:t>(</a:t>
            </a:r>
            <a:r>
              <a:rPr lang="en-US" sz="1200" dirty="0">
                <a:latin typeface="Times New Roman" panose="02020603050405020304" pitchFamily="18" charset="0"/>
                <a:cs typeface="Times New Roman" panose="02020603050405020304" pitchFamily="18" charset="0"/>
              </a:rPr>
              <a:t>15</a:t>
            </a:r>
            <a:r>
              <a:rPr lang="el-GR" sz="12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R˜ 2 = H(X2|X0X3) +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Ɛ</a:t>
            </a:r>
            <a:r>
              <a:rPr lang="en-IN" sz="1200" dirty="0">
                <a:latin typeface="Times New Roman" panose="02020603050405020304" pitchFamily="18" charset="0"/>
                <a:cs typeface="Times New Roman" panose="02020603050405020304" pitchFamily="18" charset="0"/>
              </a:rPr>
              <a:t>, ------------------(16) </a:t>
            </a:r>
          </a:p>
          <a:p>
            <a:pPr marL="0" indent="0">
              <a:buNone/>
            </a:pPr>
            <a:r>
              <a:rPr lang="en-IN" sz="1200" dirty="0">
                <a:latin typeface="Times New Roman" panose="02020603050405020304" pitchFamily="18" charset="0"/>
                <a:cs typeface="Times New Roman" panose="02020603050405020304" pitchFamily="18" charset="0"/>
              </a:rPr>
              <a:t>                    R2 = H(X2|X1X3) − H(X2|X0X3) − 2</a:t>
            </a:r>
            <a:r>
              <a:rPr lang="el-GR" sz="1200" dirty="0">
                <a:latin typeface="Times New Roman" panose="02020603050405020304" pitchFamily="18" charset="0"/>
                <a:cs typeface="Times New Roman" panose="02020603050405020304" pitchFamily="18" charset="0"/>
              </a:rPr>
              <a:t>δ(</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Ɛ</a:t>
            </a:r>
            <a:r>
              <a:rPr lang="el-GR" sz="1200" dirty="0">
                <a:latin typeface="Times New Roman" panose="02020603050405020304" pitchFamily="18" charset="0"/>
                <a:cs typeface="Times New Roman" panose="02020603050405020304" pitchFamily="18" charset="0"/>
              </a:rPr>
              <a:t>) − 2,</a:t>
            </a:r>
            <a:r>
              <a:rPr lang="en-US" sz="1200" dirty="0">
                <a:latin typeface="Times New Roman" panose="02020603050405020304" pitchFamily="18" charset="0"/>
                <a:cs typeface="Times New Roman" panose="02020603050405020304" pitchFamily="18" charset="0"/>
              </a:rPr>
              <a:t>--</a:t>
            </a:r>
            <a:r>
              <a:rPr lang="el-GR"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17</a:t>
            </a:r>
            <a:r>
              <a:rPr lang="el-GR"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       </a:t>
            </a:r>
          </a:p>
          <a:p>
            <a:pPr marL="0" indent="0">
              <a:buNone/>
            </a:pPr>
            <a:r>
              <a:rPr lang="en-US" sz="120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R˜ 3 = H(X3|X0) + </a:t>
            </a:r>
            <a:r>
              <a:rPr lang="en-IN" sz="1200" dirty="0">
                <a:effectLst/>
                <a:latin typeface="Times New Roman" panose="02020603050405020304" pitchFamily="18" charset="0"/>
                <a:ea typeface="Calibri" panose="020F0502020204030204" pitchFamily="34" charset="0"/>
                <a:cs typeface="Times New Roman" panose="02020603050405020304" pitchFamily="18" charset="0"/>
              </a:rPr>
              <a:t>Ɛ </a:t>
            </a:r>
            <a:r>
              <a:rPr lang="en-IN" sz="1200" dirty="0">
                <a:latin typeface="Times New Roman" panose="02020603050405020304" pitchFamily="18" charset="0"/>
                <a:cs typeface="Times New Roman" panose="02020603050405020304" pitchFamily="18" charset="0"/>
              </a:rPr>
              <a:t>------------(18)</a:t>
            </a:r>
          </a:p>
          <a:p>
            <a:pPr marL="0" indent="0">
              <a:buNone/>
            </a:pPr>
            <a:r>
              <a:rPr lang="en-US" sz="1200" dirty="0">
                <a:latin typeface="Times New Roman" panose="02020603050405020304" pitchFamily="18" charset="0"/>
                <a:cs typeface="Times New Roman" panose="02020603050405020304" pitchFamily="18" charset="0"/>
              </a:rPr>
              <a:t>It is easy to verify that the above rates satisfy the Slepian-Wolf conditions, and the sufficient conditions (6) and (12) for secrecy.</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9812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B0685DC-0CEE-482C-8A89-7A85EECA3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07486" cy="66595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62151A-FCC7-458C-AC25-4BC3AADB857A}"/>
              </a:ext>
            </a:extLst>
          </p:cNvPr>
          <p:cNvSpPr>
            <a:spLocks noGrp="1"/>
          </p:cNvSpPr>
          <p:nvPr>
            <p:ph type="title"/>
          </p:nvPr>
        </p:nvSpPr>
        <p:spPr>
          <a:xfrm>
            <a:off x="5868119" y="665956"/>
            <a:ext cx="2725886" cy="5074223"/>
          </a:xfrm>
        </p:spPr>
        <p:txBody>
          <a:bodyPr anchor="ctr">
            <a:normAutofit/>
          </a:bodyPr>
          <a:lstStyle/>
          <a:p>
            <a:r>
              <a:rPr lang="en-US" sz="2800">
                <a:latin typeface="Times New Roman" panose="02020603050405020304" pitchFamily="18" charset="0"/>
                <a:cs typeface="Times New Roman" panose="02020603050405020304" pitchFamily="18" charset="0"/>
              </a:rPr>
              <a:t>EXTENSION</a:t>
            </a:r>
            <a:endParaRPr lang="en-IN" sz="2800"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A31628A5-06CF-426B-948A-59ED234C9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6612" cy="665956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9" name="Content Placeholder 2">
            <a:extLst>
              <a:ext uri="{FF2B5EF4-FFF2-40B4-BE49-F238E27FC236}">
                <a16:creationId xmlns:a16="http://schemas.microsoft.com/office/drawing/2014/main" id="{1A8A2B88-CD59-4AA3-986E-94AD6001DF72}"/>
              </a:ext>
            </a:extLst>
          </p:cNvPr>
          <p:cNvSpPr>
            <a:spLocks noGrp="1"/>
          </p:cNvSpPr>
          <p:nvPr>
            <p:ph idx="1"/>
          </p:nvPr>
        </p:nvSpPr>
        <p:spPr>
          <a:xfrm>
            <a:off x="822865" y="665956"/>
            <a:ext cx="4806593" cy="5854114"/>
          </a:xfrm>
        </p:spPr>
        <p:txBody>
          <a:bodyPr anchor="ctr">
            <a:normAutofit/>
          </a:bodyPr>
          <a:lstStyle/>
          <a:p>
            <a:pPr>
              <a:lnSpc>
                <a:spcPct val="90000"/>
              </a:lnSpc>
            </a:pPr>
            <a:r>
              <a:rPr lang="en-US" sz="1400" dirty="0">
                <a:latin typeface="Times New Roman" panose="02020603050405020304" pitchFamily="18" charset="0"/>
                <a:cs typeface="Times New Roman" panose="02020603050405020304" pitchFamily="18" charset="0"/>
              </a:rPr>
              <a:t>Internet of Things  is one of the results of advancing network and telecommunications technology.</a:t>
            </a:r>
          </a:p>
          <a:p>
            <a:pPr>
              <a:lnSpc>
                <a:spcPct val="90000"/>
              </a:lnSpc>
            </a:pPr>
            <a:r>
              <a:rPr lang="en-US" sz="1400" dirty="0">
                <a:latin typeface="Times New Roman" panose="02020603050405020304" pitchFamily="18" charset="0"/>
                <a:cs typeface="Times New Roman" panose="02020603050405020304" pitchFamily="18" charset="0"/>
              </a:rPr>
              <a:t>This technology is expected to connect millions of home devices, vehicles, and industrial environments. It is conceivable that millions of devices will be equipped with various sensors and be connected to the internet through various heterogeneous networks. </a:t>
            </a:r>
          </a:p>
          <a:p>
            <a:pPr>
              <a:lnSpc>
                <a:spcPct val="90000"/>
              </a:lnSpc>
            </a:pPr>
            <a:r>
              <a:rPr lang="en-US" sz="1400" dirty="0">
                <a:latin typeface="Times New Roman" panose="02020603050405020304" pitchFamily="18" charset="0"/>
                <a:cs typeface="Times New Roman" panose="02020603050405020304" pitchFamily="18" charset="0"/>
              </a:rPr>
              <a:t>IoT, therefore, can be said as a system that allows the transfer of data between interconnected devices without human interaction.</a:t>
            </a:r>
          </a:p>
          <a:p>
            <a:pPr>
              <a:lnSpc>
                <a:spcPct val="90000"/>
              </a:lnSpc>
            </a:pPr>
            <a:r>
              <a:rPr lang="en-US" sz="1400" dirty="0">
                <a:latin typeface="Times New Roman" panose="02020603050405020304" pitchFamily="18" charset="0"/>
                <a:cs typeface="Times New Roman" panose="02020603050405020304" pitchFamily="18" charset="0"/>
              </a:rPr>
              <a:t>IoT infrastructure is connected to a communication network to collect and exchange information between devices. </a:t>
            </a:r>
          </a:p>
          <a:p>
            <a:pPr>
              <a:lnSpc>
                <a:spcPct val="90000"/>
              </a:lnSpc>
            </a:pPr>
            <a:r>
              <a:rPr lang="en-US" sz="1400" dirty="0">
                <a:latin typeface="Times New Roman" panose="02020603050405020304" pitchFamily="18" charset="0"/>
                <a:cs typeface="Times New Roman" panose="02020603050405020304" pitchFamily="18" charset="0"/>
              </a:rPr>
              <a:t>Referring to the basic character of wireless media, data aggregation through wireless communication is very vulnerable to eavesdropping. </a:t>
            </a:r>
          </a:p>
          <a:p>
            <a:pPr>
              <a:lnSpc>
                <a:spcPct val="90000"/>
              </a:lnSpc>
            </a:pPr>
            <a:r>
              <a:rPr lang="en-US" sz="1400" dirty="0">
                <a:latin typeface="Times New Roman" panose="02020603050405020304" pitchFamily="18" charset="0"/>
                <a:cs typeface="Times New Roman" panose="02020603050405020304" pitchFamily="18" charset="0"/>
              </a:rPr>
              <a:t>Using equipment like Raspberry PI 3 and making the terminals motionless with a distance between each of them secret key can be generated which can be hidden from eavesdropping.</a:t>
            </a:r>
            <a:endParaRPr lang="en-IN" sz="1400" dirty="0">
              <a:latin typeface="Times New Roman" panose="02020603050405020304" pitchFamily="18" charset="0"/>
              <a:cs typeface="Times New Roman" panose="02020603050405020304" pitchFamily="18" charset="0"/>
            </a:endParaRPr>
          </a:p>
        </p:txBody>
      </p:sp>
      <p:cxnSp>
        <p:nvCxnSpPr>
          <p:cNvPr id="12" name="Straight Connector 11">
            <a:extLst>
              <a:ext uri="{FF2B5EF4-FFF2-40B4-BE49-F238E27FC236}">
                <a16:creationId xmlns:a16="http://schemas.microsoft.com/office/drawing/2014/main" id="{2D902729-F83B-46AA-B572-057BD32A69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29461" y="1817669"/>
            <a:ext cx="0" cy="3107796"/>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251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10000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48D6F-2E27-40C8-9BF8-08B3D4923369}"/>
              </a:ext>
            </a:extLst>
          </p:cNvPr>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CONCLUSION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2469C8-756F-429C-A98B-64438DA93715}"/>
              </a:ext>
            </a:extLst>
          </p:cNvPr>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The problem of generating a pair of keys for a cellular source model with a helper is studied. </a:t>
            </a:r>
          </a:p>
          <a:p>
            <a:r>
              <a:rPr lang="en-US" sz="1400" dirty="0">
                <a:latin typeface="Times New Roman" panose="02020603050405020304" pitchFamily="18" charset="0"/>
                <a:cs typeface="Times New Roman" panose="02020603050405020304" pitchFamily="18" charset="0"/>
              </a:rPr>
              <a:t>We have established the full key capacity region for four models with different secrecy requirements. </a:t>
            </a:r>
          </a:p>
          <a:p>
            <a:r>
              <a:rPr lang="en-US" sz="1400" dirty="0">
                <a:latin typeface="Times New Roman" panose="02020603050405020304" pitchFamily="18" charset="0"/>
                <a:cs typeface="Times New Roman" panose="02020603050405020304" pitchFamily="18" charset="0"/>
              </a:rPr>
              <a:t>The models mentioned here consist of four terminals, which are more complicated to analyze than three-terminal models studied previously.</a:t>
            </a:r>
          </a:p>
          <a:p>
            <a:r>
              <a:rPr lang="en-US" sz="1400" dirty="0">
                <a:latin typeface="Times New Roman" panose="02020603050405020304" pitchFamily="18" charset="0"/>
                <a:cs typeface="Times New Roman" panose="02020603050405020304" pitchFamily="18" charset="0"/>
              </a:rPr>
              <a:t>Because the cut-set outer bound takes more cases due to different source distributions.</a:t>
            </a:r>
          </a:p>
          <a:p>
            <a:r>
              <a:rPr lang="en-US" sz="1400" dirty="0">
                <a:latin typeface="Times New Roman" panose="02020603050405020304" pitchFamily="18" charset="0"/>
                <a:cs typeface="Times New Roman" panose="02020603050405020304" pitchFamily="18" charset="0"/>
              </a:rPr>
              <a:t>Instead of designing a specific achievable scheme for each case one by one, a unified strategy has been developed, which achieves corner points for all cases, and hence significantly reduces the complexity of the achievability proof. </a:t>
            </a:r>
          </a:p>
        </p:txBody>
      </p:sp>
    </p:spTree>
    <p:extLst>
      <p:ext uri="{BB962C8B-B14F-4D97-AF65-F5344CB8AC3E}">
        <p14:creationId xmlns:p14="http://schemas.microsoft.com/office/powerpoint/2010/main" val="298502849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1169</TotalTime>
  <Words>3794</Words>
  <Application>Microsoft Office PowerPoint</Application>
  <PresentationFormat>Custom</PresentationFormat>
  <Paragraphs>201</Paragraphs>
  <Slides>26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Century Gothic</vt:lpstr>
      <vt:lpstr>Times New Roman</vt:lpstr>
      <vt:lpstr>Wingdings</vt:lpstr>
      <vt:lpstr>Wingdings 3</vt:lpstr>
      <vt:lpstr>Wisp</vt:lpstr>
      <vt:lpstr>Multi-Key Generation over a Cellular Model with a Helper By:  Chaganti Revanth Chowdary (Q929B649)  Pakalapati Sri Lakshmi Prasanna Kumar   (W845T858)   Mengani Ajay Kumar(Y955T859)  </vt:lpstr>
      <vt:lpstr>ABSTRACT</vt:lpstr>
      <vt:lpstr>INTRODUCTION</vt:lpstr>
      <vt:lpstr>PowerPoint Presentation</vt:lpstr>
      <vt:lpstr>HELPER</vt:lpstr>
      <vt:lpstr>PowerPoint Presentation</vt:lpstr>
      <vt:lpstr>WEAK POINTS (LIMITS OF PREVIOUS RESEARCH)</vt:lpstr>
      <vt:lpstr>STRONG  POINTS(NEW ABOUT THE RESULTS)</vt:lpstr>
      <vt:lpstr>Model 1A:Symmetric key  generation with a trusted helper</vt:lpstr>
      <vt:lpstr>Model 1B: Symmetric key  generation with an untrusted helper</vt:lpstr>
      <vt:lpstr>Model 2A: Asymmetric key generation with a trusted helper</vt:lpstr>
      <vt:lpstr>Model 2B: Asymmetric key generation with an untrusted helper</vt:lpstr>
      <vt:lpstr>SYMETRIC GENERATION WITH UNTRUSTED HELPER</vt:lpstr>
      <vt:lpstr>PowerPoint Presentation</vt:lpstr>
      <vt:lpstr>PowerPoint Presentation</vt:lpstr>
      <vt:lpstr>PowerPoint Presentation</vt:lpstr>
      <vt:lpstr>PowerPoint Presentation</vt:lpstr>
      <vt:lpstr>PROOF OF THE  THEOREM</vt:lpstr>
      <vt:lpstr>Proof of Achievability: </vt:lpstr>
      <vt:lpstr>PowerPoint Presentation</vt:lpstr>
      <vt:lpstr>PROOF OF SECRECY</vt:lpstr>
      <vt:lpstr>PowerPoint Presentation</vt:lpstr>
      <vt:lpstr>PowerPoint Presentation</vt:lpstr>
      <vt:lpstr>PowerPoint Presentation</vt:lpstr>
      <vt:lpstr>EXTENSION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Multi-Key Generation over a Cellular Model with a Helper</dc:title>
  <dc:creator>Pathan, Subhan Khan</dc:creator>
  <cp:lastModifiedBy>Pakalapati, Sri Lakshmi Prasanna Kumar</cp:lastModifiedBy>
  <cp:revision>122</cp:revision>
  <dcterms:created xsi:type="dcterms:W3CDTF">2021-10-20T09:32:20Z</dcterms:created>
  <dcterms:modified xsi:type="dcterms:W3CDTF">2022-02-07T15:48:31Z</dcterms:modified>
</cp:coreProperties>
</file>